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E"/>
        </a:solidFill>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17324F"/>
          </a:solidFill>
          <a:ln/>
        </p:spPr>
      </p:sp>
      <p:sp>
        <p:nvSpPr>
          <p:cNvPr id="3" name="Shape 1"/>
          <p:cNvSpPr/>
          <p:nvPr/>
        </p:nvSpPr>
        <p:spPr>
          <a:xfrm>
            <a:off x="10332720" y="3931920"/>
            <a:ext cx="3108960" cy="3108960"/>
          </a:xfrm>
          <a:prstGeom prst="ellipse">
            <a:avLst/>
          </a:prstGeom>
          <a:solidFill>
            <a:srgbClr val="17324F"/>
          </a:solidFill>
          <a:ln/>
        </p:spPr>
      </p:sp>
      <p:sp>
        <p:nvSpPr>
          <p:cNvPr id="4" name="Text 2"/>
          <p:cNvSpPr/>
          <p:nvPr/>
        </p:nvSpPr>
        <p:spPr>
          <a:xfrm>
            <a:off x="548640" y="1783080"/>
            <a:ext cx="8686800" cy="365760"/>
          </a:xfrm>
          <a:prstGeom prst="rect">
            <a:avLst/>
          </a:prstGeom>
          <a:noFill/>
          <a:ln/>
        </p:spPr>
        <p:txBody>
          <a:bodyPr wrap="square" lIns="0" tIns="0" rIns="0" bIns="0" rtlCol="0" anchor="ctr"/>
          <a:lstStyle/>
          <a:p>
            <a:pPr indent="0" marL="0">
              <a:buNone/>
            </a:pPr>
            <a:r>
              <a:rPr lang="en-US" sz="1400" b="1" spc="150" kern="0" dirty="0">
                <a:solidFill>
                  <a:srgbClr val="2EC4B6"/>
                </a:solidFill>
                <a:latin typeface="Calibri" pitchFamily="34" charset="0"/>
                <a:ea typeface="Calibri" pitchFamily="34" charset="-122"/>
                <a:cs typeface="Calibri" pitchFamily="34" charset="-120"/>
              </a:rPr>
              <a:t>JEMBATAN KE PHASE 4 · EXPRESS + POSTGRESQL</a:t>
            </a:r>
            <a:endParaRPr lang="en-US" sz="1400" dirty="0"/>
          </a:p>
        </p:txBody>
      </p:sp>
      <p:sp>
        <p:nvSpPr>
          <p:cNvPr id="5" name="Text 3"/>
          <p:cNvSpPr/>
          <p:nvPr/>
        </p:nvSpPr>
        <p:spPr>
          <a:xfrm>
            <a:off x="548640" y="2194560"/>
            <a:ext cx="8869680" cy="210312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db.js, Parameterized</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Query, &amp; Migration</a:t>
            </a:r>
            <a:endParaRPr lang="en-US" sz="4400" dirty="0"/>
          </a:p>
        </p:txBody>
      </p:sp>
      <p:sp>
        <p:nvSpPr>
          <p:cNvPr id="6" name="Text 4"/>
          <p:cNvSpPr/>
          <p:nvPr/>
        </p:nvSpPr>
        <p:spPr>
          <a:xfrm>
            <a:off x="548640" y="4526280"/>
            <a:ext cx="8503920" cy="822960"/>
          </a:xfrm>
          <a:prstGeom prst="rect">
            <a:avLst/>
          </a:prstGeom>
          <a:noFill/>
          <a:ln/>
        </p:spPr>
        <p:txBody>
          <a:bodyPr wrap="square" lIns="0" tIns="0" rIns="0" bIns="0" rtlCol="0" anchor="ctr"/>
          <a:lstStyle/>
          <a:p>
            <a:pPr indent="0" marL="0">
              <a:lnSpc>
                <a:spcPct val="130000"/>
              </a:lnSpc>
              <a:buNone/>
            </a:pPr>
            <a:r>
              <a:rPr lang="en-US" sz="1450" dirty="0">
                <a:solidFill>
                  <a:srgbClr val="CADCE6"/>
                </a:solidFill>
                <a:latin typeface="Calibri" pitchFamily="34" charset="0"/>
                <a:ea typeface="Calibri" pitchFamily="34" charset="-122"/>
                <a:cs typeface="Calibri" pitchFamily="34" charset="-120"/>
              </a:rPr>
              <a:t>Dari psql manual ke kode yang ngobrol sendiri ke database — cara ngatur</a:t>
            </a:r>
            <a:endParaRPr lang="en-US" sz="1450" dirty="0"/>
          </a:p>
          <a:p>
            <a:pPr indent="0" marL="0">
              <a:lnSpc>
                <a:spcPct val="130000"/>
              </a:lnSpc>
              <a:buNone/>
            </a:pPr>
            <a:r>
              <a:rPr lang="en-US" sz="1450" dirty="0">
                <a:solidFill>
                  <a:srgbClr val="CADCE6"/>
                </a:solidFill>
                <a:latin typeface="Calibri" pitchFamily="34" charset="0"/>
                <a:ea typeface="Calibri" pitchFamily="34" charset="-122"/>
                <a:cs typeface="Calibri" pitchFamily="34" charset="-120"/>
              </a:rPr>
              <a:t>perubahan struktur database, sampai ngisi data contoh (seeding) buat development.</a:t>
            </a:r>
            <a:endParaRPr lang="en-US" sz="1450" dirty="0"/>
          </a:p>
        </p:txBody>
      </p:sp>
      <p:sp>
        <p:nvSpPr>
          <p:cNvPr id="7" name="Shape 5"/>
          <p:cNvSpPr/>
          <p:nvPr/>
        </p:nvSpPr>
        <p:spPr>
          <a:xfrm>
            <a:off x="9646920" y="2331720"/>
            <a:ext cx="1874520" cy="1874520"/>
          </a:xfrm>
          <a:prstGeom prst="ellipse">
            <a:avLst/>
          </a:prstGeom>
          <a:solidFill>
            <a:srgbClr val="17324F"/>
          </a:solidFill>
          <a:ln/>
        </p:spPr>
      </p:sp>
      <p:pic>
        <p:nvPicPr>
          <p:cNvPr id="8" name="Image 0" descr="preencoded.png">    </p:cNvPr>
          <p:cNvPicPr>
            <a:picLocks noChangeAspect="1"/>
          </p:cNvPicPr>
          <p:nvPr/>
        </p:nvPicPr>
        <p:blipFill>
          <a:blip r:embed="rId1"/>
          <a:stretch>
            <a:fillRect/>
          </a:stretch>
        </p:blipFill>
        <p:spPr>
          <a:xfrm>
            <a:off x="10115550" y="2800350"/>
            <a:ext cx="937260" cy="937260"/>
          </a:xfrm>
          <a:prstGeom prst="rect">
            <a:avLst/>
          </a:prstGeom>
        </p:spPr>
      </p:pic>
      <p:sp>
        <p:nvSpPr>
          <p:cNvPr id="9" name="Shape 6"/>
          <p:cNvSpPr/>
          <p:nvPr/>
        </p:nvSpPr>
        <p:spPr>
          <a:xfrm>
            <a:off x="9646920" y="2331720"/>
            <a:ext cx="1874520" cy="1874520"/>
          </a:xfrm>
          <a:prstGeom prst="ellipse">
            <a:avLst/>
          </a:prstGeom>
          <a:ln w="28575">
            <a:solidFill>
              <a:srgbClr val="2EC4B6"/>
            </a:solidFill>
            <a:prstDash val="solid"/>
          </a:ln>
        </p:spPr>
      </p:sp>
      <p:sp>
        <p:nvSpPr>
          <p:cNvPr id="10" name="Text 7"/>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C7A99"/>
                </a:solidFill>
                <a:latin typeface="Calibri" pitchFamily="34" charset="0"/>
                <a:ea typeface="Calibri" pitchFamily="34" charset="-122"/>
                <a:cs typeface="Calibri" pitchFamily="34" charset="-120"/>
              </a:rPr>
              <a:t>Modul: postgres-migration-dasar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EC4B6"/>
                </a:solidFill>
                <a:latin typeface="Calibri" pitchFamily="34" charset="0"/>
                <a:ea typeface="Calibri" pitchFamily="34" charset="-122"/>
                <a:cs typeface="Calibri" pitchFamily="34" charset="-120"/>
              </a:rPr>
              <a:t>00 · ANALOGI PEMBUKA</a:t>
            </a:r>
            <a:endParaRPr lang="en-US" sz="1300" dirty="0"/>
          </a:p>
        </p:txBody>
      </p:sp>
      <p:sp>
        <p:nvSpPr>
          <p:cNvPr id="3" name="Text 1"/>
          <p:cNvSpPr/>
          <p:nvPr/>
        </p:nvSpPr>
        <p:spPr>
          <a:xfrm>
            <a:off x="548640" y="713232"/>
            <a:ext cx="10180015" cy="822960"/>
          </a:xfrm>
          <a:prstGeom prst="rect">
            <a:avLst/>
          </a:prstGeom>
          <a:noFill/>
          <a:ln/>
        </p:spPr>
        <p:txBody>
          <a:bodyPr wrap="square" lIns="0" tIns="0" rIns="0" bIns="0" rtlCol="0" anchor="ctr"/>
          <a:lstStyle/>
          <a:p>
            <a:pPr indent="0" marL="0">
              <a:buNone/>
            </a:pPr>
            <a:r>
              <a:rPr lang="en-US" sz="3000" b="1" dirty="0">
                <a:solidFill>
                  <a:srgbClr val="10243E"/>
                </a:solidFill>
                <a:latin typeface="Cambria" pitchFamily="34" charset="0"/>
                <a:ea typeface="Cambria" pitchFamily="34" charset="-122"/>
                <a:cs typeface="Cambria" pitchFamily="34" charset="-120"/>
              </a:rPr>
              <a:t>Dari Telepon Umum ke Sambungan Permanen</a:t>
            </a:r>
            <a:endParaRPr lang="en-US" sz="3000" dirty="0"/>
          </a:p>
        </p:txBody>
      </p:sp>
      <p:sp>
        <p:nvSpPr>
          <p:cNvPr id="4" name="Text 2"/>
          <p:cNvSpPr/>
          <p:nvPr/>
        </p:nvSpPr>
        <p:spPr>
          <a:xfrm>
            <a:off x="548640" y="1783080"/>
            <a:ext cx="5623560" cy="4206240"/>
          </a:xfrm>
          <a:prstGeom prst="rect">
            <a:avLst/>
          </a:prstGeom>
          <a:noFill/>
          <a:ln/>
        </p:spPr>
        <p:txBody>
          <a:bodyPr wrap="square" lIns="0" tIns="0" rIns="0" bIns="0" rtlCol="0" anchor="t"/>
          <a:lstStyle/>
          <a:p>
            <a:pPr marL="177800" indent="-177800">
              <a:lnSpc>
                <a:spcPct val="115000"/>
              </a:lnSpc>
              <a:spcAft>
                <a:spcPts val="1400"/>
              </a:spcAft>
              <a:buSzPct val="100000"/>
              <a:buChar char="•"/>
            </a:pPr>
            <a:r>
              <a:rPr lang="en-US" sz="1350" dirty="0">
                <a:solidFill>
                  <a:srgbClr val="10243E"/>
                </a:solidFill>
                <a:latin typeface="Calibri" pitchFamily="34" charset="0"/>
                <a:ea typeface="Calibri" pitchFamily="34" charset="-122"/>
                <a:cs typeface="Calibri" pitchFamily="34" charset="-120"/>
              </a:rPr>
              <a:t>Modul kemarin: tiap mau nanya ke database, buka psql manual, connect, ketik query, tutup.</a:t>
            </a:r>
            <a:endParaRPr lang="en-US" sz="1350" dirty="0"/>
          </a:p>
          <a:p>
            <a:pPr marL="177800" indent="-177800">
              <a:lnSpc>
                <a:spcPct val="115000"/>
              </a:lnSpc>
              <a:spcAft>
                <a:spcPts val="1400"/>
              </a:spcAft>
              <a:buSzPct val="100000"/>
              <a:buChar char="•"/>
            </a:pPr>
            <a:r>
              <a:rPr lang="en-US" sz="1350" dirty="0">
                <a:solidFill>
                  <a:srgbClr val="10243E"/>
                </a:solidFill>
                <a:latin typeface="Calibri" pitchFamily="34" charset="0"/>
                <a:ea typeface="Calibri" pitchFamily="34" charset="-122"/>
                <a:cs typeface="Calibri" pitchFamily="34" charset="-120"/>
              </a:rPr>
              <a:t>Itu kayak nelepon kantor lewat telepon umum tiap ada perlu — jalan, tapi gak praktis buat APLIKASI yang harus ngelayanin banyak orang sekaligus.</a:t>
            </a:r>
            <a:endParaRPr lang="en-US" sz="1350" dirty="0"/>
          </a:p>
          <a:p>
            <a:pPr marL="177800" indent="-177800">
              <a:lnSpc>
                <a:spcPct val="115000"/>
              </a:lnSpc>
              <a:spcAft>
                <a:spcPts val="1400"/>
              </a:spcAft>
              <a:buSzPct val="100000"/>
              <a:buChar char="•"/>
            </a:pPr>
            <a:r>
              <a:rPr lang="en-US" sz="1350" dirty="0">
                <a:solidFill>
                  <a:srgbClr val="10243E"/>
                </a:solidFill>
                <a:latin typeface="Calibri" pitchFamily="34" charset="0"/>
                <a:ea typeface="Calibri" pitchFamily="34" charset="-122"/>
                <a:cs typeface="Calibri" pitchFamily="34" charset="-120"/>
              </a:rPr>
              <a:t>db.js = bikin sambungan telepon PERMANEN ke kantor, siap dipakai ngobrol dari kode kapan aja.</a:t>
            </a:r>
            <a:endParaRPr lang="en-US" sz="1350" dirty="0"/>
          </a:p>
          <a:p>
            <a:pPr marL="177800" indent="-177800">
              <a:lnSpc>
                <a:spcPct val="115000"/>
              </a:lnSpc>
              <a:spcAft>
                <a:spcPts val="1400"/>
              </a:spcAft>
              <a:buSzPct val="100000"/>
              <a:buChar char="•"/>
            </a:pPr>
            <a:r>
              <a:rPr lang="en-US" sz="1350" dirty="0">
                <a:solidFill>
                  <a:srgbClr val="10243E"/>
                </a:solidFill>
                <a:latin typeface="Calibri" pitchFamily="34" charset="0"/>
                <a:ea typeface="Calibri" pitchFamily="34" charset="-122"/>
                <a:cs typeface="Calibri" pitchFamily="34" charset="-120"/>
              </a:rPr>
              <a:t>Migration = buku catatan renovasi rak arsip — tiap perubahan struktur dicatet, dinomorin, bisa “diputer ulang” di komputer lain.</a:t>
            </a:r>
            <a:endParaRPr lang="en-US" sz="1350" dirty="0"/>
          </a:p>
        </p:txBody>
      </p:sp>
      <p:sp>
        <p:nvSpPr>
          <p:cNvPr id="5" name="Shape 3"/>
          <p:cNvSpPr/>
          <p:nvPr/>
        </p:nvSpPr>
        <p:spPr>
          <a:xfrm>
            <a:off x="6720840" y="1783080"/>
            <a:ext cx="2331720" cy="4160520"/>
          </a:xfrm>
          <a:prstGeom prst="roundRect">
            <a:avLst>
              <a:gd name="adj" fmla="val 3922"/>
            </a:avLst>
          </a:prstGeom>
          <a:solidFill>
            <a:srgbClr val="FFFFFF"/>
          </a:solidFill>
          <a:ln w="12700">
            <a:solidFill>
              <a:srgbClr val="DCE6EC"/>
            </a:solidFill>
            <a:prstDash val="solid"/>
          </a:ln>
          <a:effectLst>
            <a:outerShdw sx="100000" sy="100000" kx="0" ky="0" algn="bl" rotWithShape="0" blurRad="101600" dist="25400" dir="5400000">
              <a:srgbClr val="10243E">
                <a:alpha val="12000"/>
              </a:srgbClr>
            </a:outerShdw>
          </a:effectLst>
        </p:spPr>
      </p:sp>
      <p:sp>
        <p:nvSpPr>
          <p:cNvPr id="6" name="Shape 4"/>
          <p:cNvSpPr/>
          <p:nvPr/>
        </p:nvSpPr>
        <p:spPr>
          <a:xfrm>
            <a:off x="7475220" y="2148840"/>
            <a:ext cx="822960" cy="822960"/>
          </a:xfrm>
          <a:prstGeom prst="ellipse">
            <a:avLst/>
          </a:prstGeom>
          <a:solidFill>
            <a:srgbClr val="E3F7F4"/>
          </a:solidFill>
          <a:ln/>
        </p:spPr>
      </p:sp>
      <p:pic>
        <p:nvPicPr>
          <p:cNvPr id="7" name="Image 0" descr="preencoded.png">    </p:cNvPr>
          <p:cNvPicPr>
            <a:picLocks noChangeAspect="1"/>
          </p:cNvPicPr>
          <p:nvPr/>
        </p:nvPicPr>
        <p:blipFill>
          <a:blip r:embed="rId1"/>
          <a:stretch>
            <a:fillRect/>
          </a:stretch>
        </p:blipFill>
        <p:spPr>
          <a:xfrm>
            <a:off x="7680960" y="2354580"/>
            <a:ext cx="411480" cy="411480"/>
          </a:xfrm>
          <a:prstGeom prst="rect">
            <a:avLst/>
          </a:prstGeom>
        </p:spPr>
      </p:pic>
      <p:sp>
        <p:nvSpPr>
          <p:cNvPr id="8" name="Text 5"/>
          <p:cNvSpPr/>
          <p:nvPr/>
        </p:nvSpPr>
        <p:spPr>
          <a:xfrm>
            <a:off x="6858000" y="3200400"/>
            <a:ext cx="2057400" cy="640080"/>
          </a:xfrm>
          <a:prstGeom prst="rect">
            <a:avLst/>
          </a:prstGeom>
          <a:noFill/>
          <a:ln/>
        </p:spPr>
        <p:txBody>
          <a:bodyPr wrap="square" lIns="0" tIns="0" rIns="0" bIns="0" rtlCol="0" anchor="ctr"/>
          <a:lstStyle/>
          <a:p>
            <a:pPr algn="ctr" indent="0" marL="0">
              <a:buNone/>
            </a:pPr>
            <a:r>
              <a:rPr lang="en-US" sz="1500" b="1" dirty="0">
                <a:solidFill>
                  <a:srgbClr val="10243E"/>
                </a:solidFill>
                <a:latin typeface="Cambria" pitchFamily="34" charset="0"/>
                <a:ea typeface="Cambria" pitchFamily="34" charset="-122"/>
                <a:cs typeface="Cambria" pitchFamily="34" charset="-120"/>
              </a:rPr>
              <a:t>db.js</a:t>
            </a:r>
            <a:endParaRPr lang="en-US" sz="1500" dirty="0"/>
          </a:p>
        </p:txBody>
      </p:sp>
      <p:sp>
        <p:nvSpPr>
          <p:cNvPr id="9" name="Text 6"/>
          <p:cNvSpPr/>
          <p:nvPr/>
        </p:nvSpPr>
        <p:spPr>
          <a:xfrm>
            <a:off x="6903720" y="3931920"/>
            <a:ext cx="1965960" cy="1828800"/>
          </a:xfrm>
          <a:prstGeom prst="rect">
            <a:avLst/>
          </a:prstGeom>
          <a:noFill/>
          <a:ln/>
        </p:spPr>
        <p:txBody>
          <a:bodyPr wrap="square" lIns="0" tIns="0" rIns="0" bIns="0" rtlCol="0" anchor="ctr"/>
          <a:lstStyle/>
          <a:p>
            <a:pPr algn="ctr" indent="0" marL="0">
              <a:lnSpc>
                <a:spcPct val="125000"/>
              </a:lnSpc>
              <a:buNone/>
            </a:pPr>
            <a:r>
              <a:rPr lang="en-US" sz="1150" dirty="0">
                <a:solidFill>
                  <a:srgbClr val="5C7A99"/>
                </a:solidFill>
                <a:latin typeface="Calibri" pitchFamily="34" charset="0"/>
                <a:ea typeface="Calibri" pitchFamily="34" charset="-122"/>
                <a:cs typeface="Calibri" pitchFamily="34" charset="-120"/>
              </a:rPr>
              <a:t>Sambungan tetap ke database, dipakai dari kode kapan aja.</a:t>
            </a:r>
            <a:endParaRPr lang="en-US" sz="1150" dirty="0"/>
          </a:p>
        </p:txBody>
      </p:sp>
      <p:sp>
        <p:nvSpPr>
          <p:cNvPr id="10" name="Shape 7"/>
          <p:cNvSpPr/>
          <p:nvPr/>
        </p:nvSpPr>
        <p:spPr>
          <a:xfrm>
            <a:off x="9372600" y="1783080"/>
            <a:ext cx="2331720" cy="4160520"/>
          </a:xfrm>
          <a:prstGeom prst="roundRect">
            <a:avLst>
              <a:gd name="adj" fmla="val 3922"/>
            </a:avLst>
          </a:prstGeom>
          <a:solidFill>
            <a:srgbClr val="FFFFFF"/>
          </a:solidFill>
          <a:ln w="12700">
            <a:solidFill>
              <a:srgbClr val="DCE6EC"/>
            </a:solidFill>
            <a:prstDash val="solid"/>
          </a:ln>
          <a:effectLst>
            <a:outerShdw sx="100000" sy="100000" kx="0" ky="0" algn="bl" rotWithShape="0" blurRad="101600" dist="25400" dir="5400000">
              <a:srgbClr val="10243E">
                <a:alpha val="12000"/>
              </a:srgbClr>
            </a:outerShdw>
          </a:effectLst>
        </p:spPr>
      </p:sp>
      <p:sp>
        <p:nvSpPr>
          <p:cNvPr id="11" name="Shape 8"/>
          <p:cNvSpPr/>
          <p:nvPr/>
        </p:nvSpPr>
        <p:spPr>
          <a:xfrm>
            <a:off x="10126980" y="2148840"/>
            <a:ext cx="822960" cy="822960"/>
          </a:xfrm>
          <a:prstGeom prst="ellipse">
            <a:avLst/>
          </a:prstGeom>
          <a:solidFill>
            <a:srgbClr val="E3F7F4"/>
          </a:solidFill>
          <a:ln/>
        </p:spPr>
      </p:sp>
      <p:pic>
        <p:nvPicPr>
          <p:cNvPr id="12" name="Image 1" descr="preencoded.png">    </p:cNvPr>
          <p:cNvPicPr>
            <a:picLocks noChangeAspect="1"/>
          </p:cNvPicPr>
          <p:nvPr/>
        </p:nvPicPr>
        <p:blipFill>
          <a:blip r:embed="rId2"/>
          <a:stretch>
            <a:fillRect/>
          </a:stretch>
        </p:blipFill>
        <p:spPr>
          <a:xfrm>
            <a:off x="10332720" y="2354580"/>
            <a:ext cx="411480" cy="411480"/>
          </a:xfrm>
          <a:prstGeom prst="rect">
            <a:avLst/>
          </a:prstGeom>
        </p:spPr>
      </p:pic>
      <p:sp>
        <p:nvSpPr>
          <p:cNvPr id="13" name="Text 9"/>
          <p:cNvSpPr/>
          <p:nvPr/>
        </p:nvSpPr>
        <p:spPr>
          <a:xfrm>
            <a:off x="9509760" y="3200400"/>
            <a:ext cx="2057400" cy="640080"/>
          </a:xfrm>
          <a:prstGeom prst="rect">
            <a:avLst/>
          </a:prstGeom>
          <a:noFill/>
          <a:ln/>
        </p:spPr>
        <p:txBody>
          <a:bodyPr wrap="square" lIns="0" tIns="0" rIns="0" bIns="0" rtlCol="0" anchor="ctr"/>
          <a:lstStyle/>
          <a:p>
            <a:pPr algn="ctr" indent="0" marL="0">
              <a:buNone/>
            </a:pPr>
            <a:r>
              <a:rPr lang="en-US" sz="1500" b="1" dirty="0">
                <a:solidFill>
                  <a:srgbClr val="10243E"/>
                </a:solidFill>
                <a:latin typeface="Cambria" pitchFamily="34" charset="0"/>
                <a:ea typeface="Cambria" pitchFamily="34" charset="-122"/>
                <a:cs typeface="Cambria" pitchFamily="34" charset="-120"/>
              </a:rPr>
              <a:t>Migration</a:t>
            </a:r>
            <a:endParaRPr lang="en-US" sz="1500" dirty="0"/>
          </a:p>
        </p:txBody>
      </p:sp>
      <p:sp>
        <p:nvSpPr>
          <p:cNvPr id="14" name="Text 10"/>
          <p:cNvSpPr/>
          <p:nvPr/>
        </p:nvSpPr>
        <p:spPr>
          <a:xfrm>
            <a:off x="9555480" y="3931920"/>
            <a:ext cx="1965960" cy="1828800"/>
          </a:xfrm>
          <a:prstGeom prst="rect">
            <a:avLst/>
          </a:prstGeom>
          <a:noFill/>
          <a:ln/>
        </p:spPr>
        <p:txBody>
          <a:bodyPr wrap="square" lIns="0" tIns="0" rIns="0" bIns="0" rtlCol="0" anchor="ctr"/>
          <a:lstStyle/>
          <a:p>
            <a:pPr algn="ctr" indent="0" marL="0">
              <a:lnSpc>
                <a:spcPct val="125000"/>
              </a:lnSpc>
              <a:buNone/>
            </a:pPr>
            <a:r>
              <a:rPr lang="en-US" sz="1150" dirty="0">
                <a:solidFill>
                  <a:srgbClr val="5C7A99"/>
                </a:solidFill>
                <a:latin typeface="Calibri" pitchFamily="34" charset="0"/>
                <a:ea typeface="Calibri" pitchFamily="34" charset="-122"/>
                <a:cs typeface="Calibri" pitchFamily="34" charset="-120"/>
              </a:rPr>
              <a:t>Riwayat perubahan struktur database, tercatat &amp; bisa diulang.</a:t>
            </a:r>
            <a:endParaRPr lang="en-US" sz="1150" dirty="0"/>
          </a:p>
        </p:txBody>
      </p:sp>
      <p:sp>
        <p:nvSpPr>
          <p:cNvPr id="15" name="Text 11"/>
          <p:cNvSpPr/>
          <p:nvPr/>
        </p:nvSpPr>
        <p:spPr>
          <a:xfrm>
            <a:off x="548640" y="6519672"/>
            <a:ext cx="8229600" cy="274320"/>
          </a:xfrm>
          <a:prstGeom prst="rect">
            <a:avLst/>
          </a:prstGeom>
          <a:noFill/>
          <a:ln/>
        </p:spPr>
        <p:txBody>
          <a:bodyPr wrap="square" lIns="0" tIns="0" rIns="0" bIns="0" rtlCol="0" anchor="ctr"/>
          <a:lstStyle/>
          <a:p>
            <a:pPr indent="0" marL="0">
              <a:buNone/>
            </a:pPr>
            <a:r>
              <a:rPr lang="en-US" sz="900" dirty="0">
                <a:solidFill>
                  <a:srgbClr val="5C7A99"/>
                </a:solidFill>
                <a:latin typeface="Calibri" pitchFamily="34" charset="0"/>
                <a:ea typeface="Calibri" pitchFamily="34" charset="-122"/>
                <a:cs typeface="Calibri" pitchFamily="34" charset="-120"/>
              </a:rPr>
              <a:t>db.js, Parameterized Query, Migration &amp; Seeding</a:t>
            </a:r>
            <a:endParaRPr lang="en-US" sz="900" dirty="0"/>
          </a:p>
        </p:txBody>
      </p:sp>
      <p:sp>
        <p:nvSpPr>
          <p:cNvPr id="16" name="Text 12"/>
          <p:cNvSpPr/>
          <p:nvPr/>
        </p:nvSpPr>
        <p:spPr>
          <a:xfrm>
            <a:off x="11094415" y="6519672"/>
            <a:ext cx="548640" cy="274320"/>
          </a:xfrm>
          <a:prstGeom prst="rect">
            <a:avLst/>
          </a:prstGeom>
          <a:noFill/>
          <a:ln/>
        </p:spPr>
        <p:txBody>
          <a:bodyPr wrap="square" lIns="0" tIns="0" rIns="0" bIns="0" rtlCol="0" anchor="ctr"/>
          <a:lstStyle/>
          <a:p>
            <a:pPr algn="r" indent="0" marL="0">
              <a:buNone/>
            </a:pPr>
            <a:r>
              <a:rPr lang="en-US" sz="900" dirty="0">
                <a:solidFill>
                  <a:srgbClr val="5C7A9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EC4B6"/>
                </a:solidFill>
                <a:latin typeface="Calibri" pitchFamily="34" charset="0"/>
                <a:ea typeface="Calibri" pitchFamily="34" charset="-122"/>
                <a:cs typeface="Calibri" pitchFamily="34" charset="-120"/>
              </a:rPr>
              <a:t>01 · KONSEP INTI 1/3</a:t>
            </a:r>
            <a:endParaRPr lang="en-US" sz="1300" dirty="0"/>
          </a:p>
        </p:txBody>
      </p:sp>
      <p:sp>
        <p:nvSpPr>
          <p:cNvPr id="3" name="Text 1"/>
          <p:cNvSpPr/>
          <p:nvPr/>
        </p:nvSpPr>
        <p:spPr>
          <a:xfrm>
            <a:off x="548640" y="713232"/>
            <a:ext cx="10180015" cy="822960"/>
          </a:xfrm>
          <a:prstGeom prst="rect">
            <a:avLst/>
          </a:prstGeom>
          <a:noFill/>
          <a:ln/>
        </p:spPr>
        <p:txBody>
          <a:bodyPr wrap="square" lIns="0" tIns="0" rIns="0" bIns="0" rtlCol="0" anchor="ctr"/>
          <a:lstStyle/>
          <a:p>
            <a:pPr indent="0" marL="0">
              <a:buNone/>
            </a:pPr>
            <a:r>
              <a:rPr lang="en-US" sz="3000" b="1" dirty="0">
                <a:solidFill>
                  <a:srgbClr val="10243E"/>
                </a:solidFill>
                <a:latin typeface="Cambria" pitchFamily="34" charset="0"/>
                <a:ea typeface="Cambria" pitchFamily="34" charset="-122"/>
                <a:cs typeface="Cambria" pitchFamily="34" charset="-120"/>
              </a:rPr>
              <a:t>db.js — Connection Pool</a:t>
            </a:r>
            <a:endParaRPr lang="en-US" sz="3000" dirty="0"/>
          </a:p>
        </p:txBody>
      </p:sp>
      <p:sp>
        <p:nvSpPr>
          <p:cNvPr id="4" name="Shape 2"/>
          <p:cNvSpPr/>
          <p:nvPr/>
        </p:nvSpPr>
        <p:spPr>
          <a:xfrm>
            <a:off x="10865815" y="658368"/>
            <a:ext cx="777240" cy="777240"/>
          </a:xfrm>
          <a:prstGeom prst="ellipse">
            <a:avLst/>
          </a:prstGeom>
          <a:solidFill>
            <a:srgbClr val="E3F7F4"/>
          </a:solidFill>
          <a:ln/>
        </p:spPr>
      </p:sp>
      <p:pic>
        <p:nvPicPr>
          <p:cNvPr id="5" name="Image 0" descr="preencoded.png">    </p:cNvPr>
          <p:cNvPicPr>
            <a:picLocks noChangeAspect="1"/>
          </p:cNvPicPr>
          <p:nvPr/>
        </p:nvPicPr>
        <p:blipFill>
          <a:blip r:embed="rId1"/>
          <a:stretch>
            <a:fillRect/>
          </a:stretch>
        </p:blipFill>
        <p:spPr>
          <a:xfrm>
            <a:off x="11052353" y="844906"/>
            <a:ext cx="404165" cy="404165"/>
          </a:xfrm>
          <a:prstGeom prst="rect">
            <a:avLst/>
          </a:prstGeom>
        </p:spPr>
      </p:pic>
      <p:sp>
        <p:nvSpPr>
          <p:cNvPr id="6" name="Shape 3"/>
          <p:cNvSpPr/>
          <p:nvPr/>
        </p:nvSpPr>
        <p:spPr>
          <a:xfrm>
            <a:off x="548640" y="1737360"/>
            <a:ext cx="5623560" cy="4160520"/>
          </a:xfrm>
          <a:prstGeom prst="roundRect">
            <a:avLst>
              <a:gd name="adj" fmla="val 1978"/>
            </a:avLst>
          </a:prstGeom>
          <a:solidFill>
            <a:srgbClr val="0B1929"/>
          </a:solidFill>
          <a:ln/>
          <a:effectLst>
            <a:outerShdw sx="100000" sy="100000" kx="0" ky="0" algn="bl" rotWithShape="0" blurRad="127000" dist="38100" dir="5400000">
              <a:srgbClr val="0B1929">
                <a:alpha val="35000"/>
              </a:srgbClr>
            </a:outerShdw>
          </a:effectLst>
        </p:spPr>
      </p:sp>
      <p:sp>
        <p:nvSpPr>
          <p:cNvPr id="7" name="Shape 4"/>
          <p:cNvSpPr/>
          <p:nvPr/>
        </p:nvSpPr>
        <p:spPr>
          <a:xfrm>
            <a:off x="713232" y="1883664"/>
            <a:ext cx="100584" cy="100584"/>
          </a:xfrm>
          <a:prstGeom prst="ellipse">
            <a:avLst/>
          </a:prstGeom>
          <a:solidFill>
            <a:srgbClr val="E8626B"/>
          </a:solidFill>
          <a:ln/>
        </p:spPr>
      </p:sp>
      <p:sp>
        <p:nvSpPr>
          <p:cNvPr id="8" name="Shape 5"/>
          <p:cNvSpPr/>
          <p:nvPr/>
        </p:nvSpPr>
        <p:spPr>
          <a:xfrm>
            <a:off x="877824" y="1883664"/>
            <a:ext cx="100584" cy="100584"/>
          </a:xfrm>
          <a:prstGeom prst="ellipse">
            <a:avLst/>
          </a:prstGeom>
          <a:solidFill>
            <a:srgbClr val="F2C14E"/>
          </a:solidFill>
          <a:ln/>
        </p:spPr>
      </p:sp>
      <p:sp>
        <p:nvSpPr>
          <p:cNvPr id="9" name="Shape 6"/>
          <p:cNvSpPr/>
          <p:nvPr/>
        </p:nvSpPr>
        <p:spPr>
          <a:xfrm>
            <a:off x="1042416" y="1883664"/>
            <a:ext cx="100584" cy="100584"/>
          </a:xfrm>
          <a:prstGeom prst="ellipse">
            <a:avLst/>
          </a:prstGeom>
          <a:solidFill>
            <a:srgbClr val="5FD07C"/>
          </a:solidFill>
          <a:ln/>
        </p:spPr>
      </p:sp>
      <p:sp>
        <p:nvSpPr>
          <p:cNvPr id="10" name="Text 7"/>
          <p:cNvSpPr/>
          <p:nvPr/>
        </p:nvSpPr>
        <p:spPr>
          <a:xfrm>
            <a:off x="804672" y="2121408"/>
            <a:ext cx="5111496" cy="3611880"/>
          </a:xfrm>
          <a:prstGeom prst="rect">
            <a:avLst/>
          </a:prstGeom>
          <a:noFill/>
          <a:ln/>
        </p:spPr>
        <p:txBody>
          <a:bodyPr wrap="square" lIns="0" tIns="0" rIns="0" bIns="0" rtlCol="0" anchor="t"/>
          <a:lstStyle/>
          <a:p>
            <a:pPr indent="0" marL="0">
              <a:lnSpc>
                <a:spcPct val="112000"/>
              </a:lnSpc>
              <a:spcAft>
                <a:spcPts val="400"/>
              </a:spcAft>
              <a:buNone/>
            </a:pPr>
            <a:r>
              <a:rPr lang="en-US" sz="1300" dirty="0">
                <a:solidFill>
                  <a:srgbClr val="8FE3C7"/>
                </a:solidFill>
                <a:latin typeface="Courier New" pitchFamily="34" charset="0"/>
                <a:ea typeface="Courier New" pitchFamily="34" charset="-122"/>
                <a:cs typeface="Courier New" pitchFamily="34" charset="-120"/>
              </a:rPr>
              <a:t>const { Pool } = require("pg");</a:t>
            </a:r>
            <a:endParaRPr lang="en-US" sz="1300" dirty="0"/>
          </a:p>
          <a:p>
            <a:pPr indent="0" marL="0">
              <a:lnSpc>
                <a:spcPct val="112000"/>
              </a:lnSpc>
              <a:spcAft>
                <a:spcPts val="400"/>
              </a:spcAft>
              <a:buNone/>
            </a:pPr>
            <a:endParaRPr lang="en-US" sz="1300" dirty="0"/>
          </a:p>
          <a:p>
            <a:pPr indent="0" marL="0">
              <a:lnSpc>
                <a:spcPct val="112000"/>
              </a:lnSpc>
              <a:spcAft>
                <a:spcPts val="400"/>
              </a:spcAft>
              <a:buNone/>
            </a:pPr>
            <a:r>
              <a:rPr lang="en-US" sz="1300" dirty="0">
                <a:solidFill>
                  <a:srgbClr val="8FE3C7"/>
                </a:solidFill>
                <a:latin typeface="Courier New" pitchFamily="34" charset="0"/>
                <a:ea typeface="Courier New" pitchFamily="34" charset="-122"/>
                <a:cs typeface="Courier New" pitchFamily="34" charset="-120"/>
              </a:rPr>
              <a:t>const pool = new Pool({</a:t>
            </a:r>
            <a:endParaRPr lang="en-US" sz="1300" dirty="0"/>
          </a:p>
          <a:p>
            <a:pPr indent="0" marL="0">
              <a:lnSpc>
                <a:spcPct val="112000"/>
              </a:lnSpc>
              <a:spcAft>
                <a:spcPts val="400"/>
              </a:spcAft>
              <a:buNone/>
            </a:pPr>
            <a:r>
              <a:rPr lang="en-US" sz="1300" dirty="0">
                <a:solidFill>
                  <a:srgbClr val="8FE3C7"/>
                </a:solidFill>
                <a:latin typeface="Courier New" pitchFamily="34" charset="0"/>
                <a:ea typeface="Courier New" pitchFamily="34" charset="-122"/>
                <a:cs typeface="Courier New" pitchFamily="34" charset="-120"/>
              </a:rPr>
              <a:t>  host: process.env.PGHOST,</a:t>
            </a:r>
            <a:endParaRPr lang="en-US" sz="1300" dirty="0"/>
          </a:p>
          <a:p>
            <a:pPr indent="0" marL="0">
              <a:lnSpc>
                <a:spcPct val="112000"/>
              </a:lnSpc>
              <a:spcAft>
                <a:spcPts val="400"/>
              </a:spcAft>
              <a:buNone/>
            </a:pPr>
            <a:r>
              <a:rPr lang="en-US" sz="1300" dirty="0">
                <a:solidFill>
                  <a:srgbClr val="8FE3C7"/>
                </a:solidFill>
                <a:latin typeface="Courier New" pitchFamily="34" charset="0"/>
                <a:ea typeface="Courier New" pitchFamily="34" charset="-122"/>
                <a:cs typeface="Courier New" pitchFamily="34" charset="-120"/>
              </a:rPr>
              <a:t>  port: Number(process.env.PGPORT),</a:t>
            </a:r>
            <a:endParaRPr lang="en-US" sz="1300" dirty="0"/>
          </a:p>
          <a:p>
            <a:pPr indent="0" marL="0">
              <a:lnSpc>
                <a:spcPct val="112000"/>
              </a:lnSpc>
              <a:spcAft>
                <a:spcPts val="400"/>
              </a:spcAft>
              <a:buNone/>
            </a:pPr>
            <a:r>
              <a:rPr lang="en-US" sz="1300" dirty="0">
                <a:solidFill>
                  <a:srgbClr val="8FE3C7"/>
                </a:solidFill>
                <a:latin typeface="Courier New" pitchFamily="34" charset="0"/>
                <a:ea typeface="Courier New" pitchFamily="34" charset="-122"/>
                <a:cs typeface="Courier New" pitchFamily="34" charset="-120"/>
              </a:rPr>
              <a:t>  user: process.env.PGUSER,</a:t>
            </a:r>
            <a:endParaRPr lang="en-US" sz="1300" dirty="0"/>
          </a:p>
          <a:p>
            <a:pPr indent="0" marL="0">
              <a:lnSpc>
                <a:spcPct val="112000"/>
              </a:lnSpc>
              <a:spcAft>
                <a:spcPts val="400"/>
              </a:spcAft>
              <a:buNone/>
            </a:pPr>
            <a:r>
              <a:rPr lang="en-US" sz="1300" dirty="0">
                <a:solidFill>
                  <a:srgbClr val="8FE3C7"/>
                </a:solidFill>
                <a:latin typeface="Courier New" pitchFamily="34" charset="0"/>
                <a:ea typeface="Courier New" pitchFamily="34" charset="-122"/>
                <a:cs typeface="Courier New" pitchFamily="34" charset="-120"/>
              </a:rPr>
              <a:t>  password: process.env.PGPASSWORD,</a:t>
            </a:r>
            <a:endParaRPr lang="en-US" sz="1300" dirty="0"/>
          </a:p>
          <a:p>
            <a:pPr indent="0" marL="0">
              <a:lnSpc>
                <a:spcPct val="112000"/>
              </a:lnSpc>
              <a:spcAft>
                <a:spcPts val="400"/>
              </a:spcAft>
              <a:buNone/>
            </a:pPr>
            <a:r>
              <a:rPr lang="en-US" sz="1300" dirty="0">
                <a:solidFill>
                  <a:srgbClr val="8FE3C7"/>
                </a:solidFill>
                <a:latin typeface="Courier New" pitchFamily="34" charset="0"/>
                <a:ea typeface="Courier New" pitchFamily="34" charset="-122"/>
                <a:cs typeface="Courier New" pitchFamily="34" charset="-120"/>
              </a:rPr>
              <a:t>  database: process.env.PGDATABASE,</a:t>
            </a:r>
            <a:endParaRPr lang="en-US" sz="1300" dirty="0"/>
          </a:p>
          <a:p>
            <a:pPr indent="0" marL="0">
              <a:lnSpc>
                <a:spcPct val="112000"/>
              </a:lnSpc>
              <a:spcAft>
                <a:spcPts val="400"/>
              </a:spcAft>
              <a:buNone/>
            </a:pPr>
            <a:r>
              <a:rPr lang="en-US" sz="1300" dirty="0">
                <a:solidFill>
                  <a:srgbClr val="8FE3C7"/>
                </a:solidFill>
                <a:latin typeface="Courier New" pitchFamily="34" charset="0"/>
                <a:ea typeface="Courier New" pitchFamily="34" charset="-122"/>
                <a:cs typeface="Courier New" pitchFamily="34" charset="-120"/>
              </a:rPr>
              <a:t>});</a:t>
            </a:r>
            <a:endParaRPr lang="en-US" sz="1300" dirty="0"/>
          </a:p>
          <a:p>
            <a:pPr indent="0" marL="0">
              <a:lnSpc>
                <a:spcPct val="112000"/>
              </a:lnSpc>
              <a:spcAft>
                <a:spcPts val="400"/>
              </a:spcAft>
              <a:buNone/>
            </a:pPr>
            <a:endParaRPr lang="en-US" sz="1300" dirty="0"/>
          </a:p>
          <a:p>
            <a:pPr indent="0" marL="0">
              <a:lnSpc>
                <a:spcPct val="112000"/>
              </a:lnSpc>
              <a:spcAft>
                <a:spcPts val="400"/>
              </a:spcAft>
              <a:buNone/>
            </a:pPr>
            <a:r>
              <a:rPr lang="en-US" sz="1300" dirty="0">
                <a:solidFill>
                  <a:srgbClr val="8FE3C7"/>
                </a:solidFill>
                <a:latin typeface="Courier New" pitchFamily="34" charset="0"/>
                <a:ea typeface="Courier New" pitchFamily="34" charset="-122"/>
                <a:cs typeface="Courier New" pitchFamily="34" charset="-120"/>
              </a:rPr>
              <a:t>module.exports = pool;</a:t>
            </a:r>
            <a:endParaRPr lang="en-US" sz="1300" dirty="0"/>
          </a:p>
        </p:txBody>
      </p:sp>
      <p:sp>
        <p:nvSpPr>
          <p:cNvPr id="11" name="Shape 8"/>
          <p:cNvSpPr/>
          <p:nvPr/>
        </p:nvSpPr>
        <p:spPr>
          <a:xfrm>
            <a:off x="6355080" y="1737360"/>
            <a:ext cx="5257800" cy="4709160"/>
          </a:xfrm>
          <a:prstGeom prst="roundRect">
            <a:avLst>
              <a:gd name="adj" fmla="val 1942"/>
            </a:avLst>
          </a:prstGeom>
          <a:solidFill>
            <a:srgbClr val="FFFFFF"/>
          </a:solidFill>
          <a:ln w="12700">
            <a:solidFill>
              <a:srgbClr val="DCE6EC"/>
            </a:solidFill>
            <a:prstDash val="solid"/>
          </a:ln>
          <a:effectLst>
            <a:outerShdw sx="100000" sy="100000" kx="0" ky="0" algn="bl" rotWithShape="0" blurRad="101600" dist="25400" dir="5400000">
              <a:srgbClr val="10243E">
                <a:alpha val="10000"/>
              </a:srgbClr>
            </a:outerShdw>
          </a:effectLst>
        </p:spPr>
      </p:sp>
      <p:sp>
        <p:nvSpPr>
          <p:cNvPr id="12" name="Text 9"/>
          <p:cNvSpPr/>
          <p:nvPr/>
        </p:nvSpPr>
        <p:spPr>
          <a:xfrm>
            <a:off x="6629400" y="1965960"/>
            <a:ext cx="4709160" cy="365760"/>
          </a:xfrm>
          <a:prstGeom prst="rect">
            <a:avLst/>
          </a:prstGeom>
          <a:noFill/>
          <a:ln/>
        </p:spPr>
        <p:txBody>
          <a:bodyPr wrap="square" lIns="0" tIns="0" rIns="0" bIns="0" rtlCol="0" anchor="ctr"/>
          <a:lstStyle/>
          <a:p>
            <a:pPr indent="0" marL="0">
              <a:buNone/>
            </a:pPr>
            <a:r>
              <a:rPr lang="en-US" sz="1400" b="1" dirty="0">
                <a:solidFill>
                  <a:srgbClr val="2EC4B6"/>
                </a:solidFill>
                <a:latin typeface="Cambria" pitchFamily="34" charset="0"/>
                <a:ea typeface="Cambria" pitchFamily="34" charset="-122"/>
                <a:cs typeface="Cambria" pitchFamily="34" charset="-120"/>
              </a:rPr>
              <a:t>Cara Ngomonginnya</a:t>
            </a:r>
            <a:endParaRPr lang="en-US" sz="1400" dirty="0"/>
          </a:p>
        </p:txBody>
      </p:sp>
      <p:sp>
        <p:nvSpPr>
          <p:cNvPr id="13" name="Text 10"/>
          <p:cNvSpPr/>
          <p:nvPr/>
        </p:nvSpPr>
        <p:spPr>
          <a:xfrm>
            <a:off x="6629400" y="2423160"/>
            <a:ext cx="4709160" cy="3749040"/>
          </a:xfrm>
          <a:prstGeom prst="rect">
            <a:avLst/>
          </a:prstGeom>
          <a:noFill/>
          <a:ln/>
        </p:spPr>
        <p:txBody>
          <a:bodyPr wrap="square" lIns="0" tIns="0" rIns="0" bIns="0" rtlCol="0" anchor="t"/>
          <a:lstStyle/>
          <a:p>
            <a:pPr indent="0" marL="0">
              <a:lnSpc>
                <a:spcPct val="135000"/>
              </a:lnSpc>
              <a:buNone/>
            </a:pPr>
            <a:r>
              <a:rPr lang="en-US" sz="1350" i="1" dirty="0">
                <a:solidFill>
                  <a:srgbClr val="10243E"/>
                </a:solidFill>
                <a:latin typeface="Cambria" pitchFamily="34" charset="0"/>
                <a:ea typeface="Cambria" pitchFamily="34" charset="-122"/>
                <a:cs typeface="Cambria" pitchFamily="34" charset="-120"/>
              </a:rPr>
              <a:t>“new Pool({...}) itu bikin KOLAM KONEKSI, bukan cuma satu sambungan. Config-nya diambil dari process.env, bukan ditulis langsung di kode — biar gampang beda setting antara laptop kamu, laptop murid, dan server nanti. module.exports = pool; itu yang bikin file lain tinggal require("./db") terus pool.query(...).”</a:t>
            </a:r>
            <a:endParaRPr lang="en-US" sz="1350" dirty="0"/>
          </a:p>
        </p:txBody>
      </p:sp>
      <p:sp>
        <p:nvSpPr>
          <p:cNvPr id="14" name="Text 11"/>
          <p:cNvSpPr/>
          <p:nvPr/>
        </p:nvSpPr>
        <p:spPr>
          <a:xfrm>
            <a:off x="548640" y="6519672"/>
            <a:ext cx="8229600" cy="274320"/>
          </a:xfrm>
          <a:prstGeom prst="rect">
            <a:avLst/>
          </a:prstGeom>
          <a:noFill/>
          <a:ln/>
        </p:spPr>
        <p:txBody>
          <a:bodyPr wrap="square" lIns="0" tIns="0" rIns="0" bIns="0" rtlCol="0" anchor="ctr"/>
          <a:lstStyle/>
          <a:p>
            <a:pPr indent="0" marL="0">
              <a:buNone/>
            </a:pPr>
            <a:r>
              <a:rPr lang="en-US" sz="900" dirty="0">
                <a:solidFill>
                  <a:srgbClr val="5C7A99"/>
                </a:solidFill>
                <a:latin typeface="Calibri" pitchFamily="34" charset="0"/>
                <a:ea typeface="Calibri" pitchFamily="34" charset="-122"/>
                <a:cs typeface="Calibri" pitchFamily="34" charset="-120"/>
              </a:rPr>
              <a:t>db.js, Parameterized Query, Migration &amp; Seeding</a:t>
            </a:r>
            <a:endParaRPr lang="en-US" sz="900" dirty="0"/>
          </a:p>
        </p:txBody>
      </p:sp>
      <p:sp>
        <p:nvSpPr>
          <p:cNvPr id="15" name="Text 12"/>
          <p:cNvSpPr/>
          <p:nvPr/>
        </p:nvSpPr>
        <p:spPr>
          <a:xfrm>
            <a:off x="11094415" y="6519672"/>
            <a:ext cx="548640" cy="274320"/>
          </a:xfrm>
          <a:prstGeom prst="rect">
            <a:avLst/>
          </a:prstGeom>
          <a:noFill/>
          <a:ln/>
        </p:spPr>
        <p:txBody>
          <a:bodyPr wrap="square" lIns="0" tIns="0" rIns="0" bIns="0" rtlCol="0" anchor="ctr"/>
          <a:lstStyle/>
          <a:p>
            <a:pPr algn="r" indent="0" marL="0">
              <a:buNone/>
            </a:pPr>
            <a:r>
              <a:rPr lang="en-US" sz="900" dirty="0">
                <a:solidFill>
                  <a:srgbClr val="5C7A9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EC4B6"/>
                </a:solidFill>
                <a:latin typeface="Calibri" pitchFamily="34" charset="0"/>
                <a:ea typeface="Calibri" pitchFamily="34" charset="-122"/>
                <a:cs typeface="Calibri" pitchFamily="34" charset="-120"/>
              </a:rPr>
              <a:t>01 · KONSEP INTI 2/3</a:t>
            </a:r>
            <a:endParaRPr lang="en-US" sz="1300" dirty="0"/>
          </a:p>
        </p:txBody>
      </p:sp>
      <p:sp>
        <p:nvSpPr>
          <p:cNvPr id="3" name="Text 1"/>
          <p:cNvSpPr/>
          <p:nvPr/>
        </p:nvSpPr>
        <p:spPr>
          <a:xfrm>
            <a:off x="548640" y="713232"/>
            <a:ext cx="10180015" cy="822960"/>
          </a:xfrm>
          <a:prstGeom prst="rect">
            <a:avLst/>
          </a:prstGeom>
          <a:noFill/>
          <a:ln/>
        </p:spPr>
        <p:txBody>
          <a:bodyPr wrap="square" lIns="0" tIns="0" rIns="0" bIns="0" rtlCol="0" anchor="ctr"/>
          <a:lstStyle/>
          <a:p>
            <a:pPr indent="0" marL="0">
              <a:buNone/>
            </a:pPr>
            <a:r>
              <a:rPr lang="en-US" sz="3000" b="1" dirty="0">
                <a:solidFill>
                  <a:srgbClr val="10243E"/>
                </a:solidFill>
                <a:latin typeface="Cambria" pitchFamily="34" charset="0"/>
                <a:ea typeface="Cambria" pitchFamily="34" charset="-122"/>
                <a:cs typeface="Cambria" pitchFamily="34" charset="-120"/>
              </a:rPr>
              <a:t>Pool vs Client — Kenapa Bukan Connect Satu-Satu?</a:t>
            </a:r>
            <a:endParaRPr lang="en-US" sz="3000" dirty="0"/>
          </a:p>
        </p:txBody>
      </p:sp>
      <p:sp>
        <p:nvSpPr>
          <p:cNvPr id="4" name="Shape 2"/>
          <p:cNvSpPr/>
          <p:nvPr/>
        </p:nvSpPr>
        <p:spPr>
          <a:xfrm>
            <a:off x="548640" y="1783080"/>
            <a:ext cx="2331720" cy="4160520"/>
          </a:xfrm>
          <a:prstGeom prst="roundRect">
            <a:avLst>
              <a:gd name="adj" fmla="val 3922"/>
            </a:avLst>
          </a:prstGeom>
          <a:solidFill>
            <a:srgbClr val="FFFFFF"/>
          </a:solidFill>
          <a:ln w="12700">
            <a:solidFill>
              <a:srgbClr val="DCE6EC"/>
            </a:solidFill>
            <a:prstDash val="solid"/>
          </a:ln>
          <a:effectLst>
            <a:outerShdw sx="100000" sy="100000" kx="0" ky="0" algn="bl" rotWithShape="0" blurRad="101600" dist="25400" dir="5400000">
              <a:srgbClr val="10243E">
                <a:alpha val="12000"/>
              </a:srgbClr>
            </a:outerShdw>
          </a:effectLst>
        </p:spPr>
      </p:sp>
      <p:sp>
        <p:nvSpPr>
          <p:cNvPr id="5" name="Shape 3"/>
          <p:cNvSpPr/>
          <p:nvPr/>
        </p:nvSpPr>
        <p:spPr>
          <a:xfrm>
            <a:off x="1303020" y="2148840"/>
            <a:ext cx="822960" cy="822960"/>
          </a:xfrm>
          <a:prstGeom prst="ellipse">
            <a:avLst/>
          </a:prstGeom>
          <a:solidFill>
            <a:srgbClr val="FCE9EB"/>
          </a:solidFill>
          <a:ln/>
        </p:spPr>
      </p:sp>
      <p:pic>
        <p:nvPicPr>
          <p:cNvPr id="6" name="Image 0" descr="preencoded.png">    </p:cNvPr>
          <p:cNvPicPr>
            <a:picLocks noChangeAspect="1"/>
          </p:cNvPicPr>
          <p:nvPr/>
        </p:nvPicPr>
        <p:blipFill>
          <a:blip r:embed="rId1"/>
          <a:stretch>
            <a:fillRect/>
          </a:stretch>
        </p:blipFill>
        <p:spPr>
          <a:xfrm>
            <a:off x="1508760" y="2354580"/>
            <a:ext cx="411480" cy="411480"/>
          </a:xfrm>
          <a:prstGeom prst="rect">
            <a:avLst/>
          </a:prstGeom>
        </p:spPr>
      </p:pic>
      <p:sp>
        <p:nvSpPr>
          <p:cNvPr id="7" name="Text 4"/>
          <p:cNvSpPr/>
          <p:nvPr/>
        </p:nvSpPr>
        <p:spPr>
          <a:xfrm>
            <a:off x="685800" y="3200400"/>
            <a:ext cx="2057400" cy="640080"/>
          </a:xfrm>
          <a:prstGeom prst="rect">
            <a:avLst/>
          </a:prstGeom>
          <a:noFill/>
          <a:ln/>
        </p:spPr>
        <p:txBody>
          <a:bodyPr wrap="square" lIns="0" tIns="0" rIns="0" bIns="0" rtlCol="0" anchor="ctr"/>
          <a:lstStyle/>
          <a:p>
            <a:pPr algn="ctr" indent="0" marL="0">
              <a:buNone/>
            </a:pPr>
            <a:r>
              <a:rPr lang="en-US" sz="1500" b="1" dirty="0">
                <a:solidFill>
                  <a:srgbClr val="10243E"/>
                </a:solidFill>
                <a:latin typeface="Cambria" pitchFamily="34" charset="0"/>
                <a:ea typeface="Cambria" pitchFamily="34" charset="-122"/>
                <a:cs typeface="Cambria" pitchFamily="34" charset="-120"/>
              </a:rPr>
              <a:t>Client</a:t>
            </a:r>
            <a:endParaRPr lang="en-US" sz="1500" dirty="0"/>
          </a:p>
        </p:txBody>
      </p:sp>
      <p:sp>
        <p:nvSpPr>
          <p:cNvPr id="8" name="Text 5"/>
          <p:cNvSpPr/>
          <p:nvPr/>
        </p:nvSpPr>
        <p:spPr>
          <a:xfrm>
            <a:off x="731520" y="3931920"/>
            <a:ext cx="1965960" cy="1828800"/>
          </a:xfrm>
          <a:prstGeom prst="rect">
            <a:avLst/>
          </a:prstGeom>
          <a:noFill/>
          <a:ln/>
        </p:spPr>
        <p:txBody>
          <a:bodyPr wrap="square" lIns="0" tIns="0" rIns="0" bIns="0" rtlCol="0" anchor="ctr"/>
          <a:lstStyle/>
          <a:p>
            <a:pPr algn="ctr" indent="0" marL="0">
              <a:lnSpc>
                <a:spcPct val="125000"/>
              </a:lnSpc>
              <a:buNone/>
            </a:pPr>
            <a:r>
              <a:rPr lang="en-US" sz="1150" dirty="0">
                <a:solidFill>
                  <a:srgbClr val="5C7A99"/>
                </a:solidFill>
                <a:latin typeface="Calibri" pitchFamily="34" charset="0"/>
                <a:ea typeface="Calibri" pitchFamily="34" charset="-122"/>
                <a:cs typeface="Calibri" pitchFamily="34" charset="-120"/>
              </a:rPr>
              <a:t>Satu loket doang — 5 orang butuh dilayani, 4 harus ANTRE.</a:t>
            </a:r>
            <a:endParaRPr lang="en-US" sz="1150" dirty="0"/>
          </a:p>
        </p:txBody>
      </p:sp>
      <p:sp>
        <p:nvSpPr>
          <p:cNvPr id="9" name="Shape 6"/>
          <p:cNvSpPr/>
          <p:nvPr/>
        </p:nvSpPr>
        <p:spPr>
          <a:xfrm>
            <a:off x="3200400" y="1783080"/>
            <a:ext cx="2331720" cy="4160520"/>
          </a:xfrm>
          <a:prstGeom prst="roundRect">
            <a:avLst>
              <a:gd name="adj" fmla="val 3922"/>
            </a:avLst>
          </a:prstGeom>
          <a:solidFill>
            <a:srgbClr val="FFFFFF"/>
          </a:solidFill>
          <a:ln w="12700">
            <a:solidFill>
              <a:srgbClr val="DCE6EC"/>
            </a:solidFill>
            <a:prstDash val="solid"/>
          </a:ln>
          <a:effectLst>
            <a:outerShdw sx="100000" sy="100000" kx="0" ky="0" algn="bl" rotWithShape="0" blurRad="101600" dist="25400" dir="5400000">
              <a:srgbClr val="10243E">
                <a:alpha val="12000"/>
              </a:srgbClr>
            </a:outerShdw>
          </a:effectLst>
        </p:spPr>
      </p:sp>
      <p:sp>
        <p:nvSpPr>
          <p:cNvPr id="10" name="Shape 7"/>
          <p:cNvSpPr/>
          <p:nvPr/>
        </p:nvSpPr>
        <p:spPr>
          <a:xfrm>
            <a:off x="3954780" y="2148840"/>
            <a:ext cx="822960" cy="822960"/>
          </a:xfrm>
          <a:prstGeom prst="ellipse">
            <a:avLst/>
          </a:prstGeom>
          <a:solidFill>
            <a:srgbClr val="E3F7F4"/>
          </a:solidFill>
          <a:ln/>
        </p:spPr>
      </p:sp>
      <p:pic>
        <p:nvPicPr>
          <p:cNvPr id="11" name="Image 1" descr="preencoded.png">    </p:cNvPr>
          <p:cNvPicPr>
            <a:picLocks noChangeAspect="1"/>
          </p:cNvPicPr>
          <p:nvPr/>
        </p:nvPicPr>
        <p:blipFill>
          <a:blip r:embed="rId2"/>
          <a:stretch>
            <a:fillRect/>
          </a:stretch>
        </p:blipFill>
        <p:spPr>
          <a:xfrm>
            <a:off x="4160520" y="2354580"/>
            <a:ext cx="411480" cy="411480"/>
          </a:xfrm>
          <a:prstGeom prst="rect">
            <a:avLst/>
          </a:prstGeom>
        </p:spPr>
      </p:pic>
      <p:sp>
        <p:nvSpPr>
          <p:cNvPr id="12" name="Text 8"/>
          <p:cNvSpPr/>
          <p:nvPr/>
        </p:nvSpPr>
        <p:spPr>
          <a:xfrm>
            <a:off x="3337560" y="3200400"/>
            <a:ext cx="2057400" cy="640080"/>
          </a:xfrm>
          <a:prstGeom prst="rect">
            <a:avLst/>
          </a:prstGeom>
          <a:noFill/>
          <a:ln/>
        </p:spPr>
        <p:txBody>
          <a:bodyPr wrap="square" lIns="0" tIns="0" rIns="0" bIns="0" rtlCol="0" anchor="ctr"/>
          <a:lstStyle/>
          <a:p>
            <a:pPr algn="ctr" indent="0" marL="0">
              <a:buNone/>
            </a:pPr>
            <a:r>
              <a:rPr lang="en-US" sz="1500" b="1" dirty="0">
                <a:solidFill>
                  <a:srgbClr val="10243E"/>
                </a:solidFill>
                <a:latin typeface="Cambria" pitchFamily="34" charset="0"/>
                <a:ea typeface="Cambria" pitchFamily="34" charset="-122"/>
                <a:cs typeface="Cambria" pitchFamily="34" charset="-120"/>
              </a:rPr>
              <a:t>Pool</a:t>
            </a:r>
            <a:endParaRPr lang="en-US" sz="1500" dirty="0"/>
          </a:p>
        </p:txBody>
      </p:sp>
      <p:sp>
        <p:nvSpPr>
          <p:cNvPr id="13" name="Text 9"/>
          <p:cNvSpPr/>
          <p:nvPr/>
        </p:nvSpPr>
        <p:spPr>
          <a:xfrm>
            <a:off x="3383280" y="3931920"/>
            <a:ext cx="1965960" cy="1828800"/>
          </a:xfrm>
          <a:prstGeom prst="rect">
            <a:avLst/>
          </a:prstGeom>
          <a:noFill/>
          <a:ln/>
        </p:spPr>
        <p:txBody>
          <a:bodyPr wrap="square" lIns="0" tIns="0" rIns="0" bIns="0" rtlCol="0" anchor="ctr"/>
          <a:lstStyle/>
          <a:p>
            <a:pPr algn="ctr" indent="0" marL="0">
              <a:lnSpc>
                <a:spcPct val="125000"/>
              </a:lnSpc>
              <a:buNone/>
            </a:pPr>
            <a:r>
              <a:rPr lang="en-US" sz="1150" dirty="0">
                <a:solidFill>
                  <a:srgbClr val="5C7A99"/>
                </a:solidFill>
                <a:latin typeface="Calibri" pitchFamily="34" charset="0"/>
                <a:ea typeface="Calibri" pitchFamily="34" charset="-122"/>
                <a:cs typeface="Calibri" pitchFamily="34" charset="-120"/>
              </a:rPr>
              <a:t>Beberapa loket sekaligus, otomatis dibagi-bagi oleh library pg.</a:t>
            </a:r>
            <a:endParaRPr lang="en-US" sz="1150" dirty="0"/>
          </a:p>
        </p:txBody>
      </p:sp>
      <p:sp>
        <p:nvSpPr>
          <p:cNvPr id="14" name="Shape 10"/>
          <p:cNvSpPr/>
          <p:nvPr/>
        </p:nvSpPr>
        <p:spPr>
          <a:xfrm>
            <a:off x="6355080" y="1783080"/>
            <a:ext cx="5257800" cy="4160520"/>
          </a:xfrm>
          <a:prstGeom prst="roundRect">
            <a:avLst>
              <a:gd name="adj" fmla="val 2198"/>
            </a:avLst>
          </a:prstGeom>
          <a:solidFill>
            <a:srgbClr val="FFFFFF"/>
          </a:solidFill>
          <a:ln w="12700">
            <a:solidFill>
              <a:srgbClr val="DCE6EC"/>
            </a:solidFill>
            <a:prstDash val="solid"/>
          </a:ln>
          <a:effectLst>
            <a:outerShdw sx="100000" sy="100000" kx="0" ky="0" algn="bl" rotWithShape="0" blurRad="101600" dist="25400" dir="5400000">
              <a:srgbClr val="10243E">
                <a:alpha val="10000"/>
              </a:srgbClr>
            </a:outerShdw>
          </a:effectLst>
        </p:spPr>
      </p:sp>
      <p:sp>
        <p:nvSpPr>
          <p:cNvPr id="15" name="Text 11"/>
          <p:cNvSpPr/>
          <p:nvPr/>
        </p:nvSpPr>
        <p:spPr>
          <a:xfrm>
            <a:off x="6629400" y="2011680"/>
            <a:ext cx="4709160" cy="365760"/>
          </a:xfrm>
          <a:prstGeom prst="rect">
            <a:avLst/>
          </a:prstGeom>
          <a:noFill/>
          <a:ln/>
        </p:spPr>
        <p:txBody>
          <a:bodyPr wrap="square" lIns="0" tIns="0" rIns="0" bIns="0" rtlCol="0" anchor="ctr"/>
          <a:lstStyle/>
          <a:p>
            <a:pPr indent="0" marL="0">
              <a:buNone/>
            </a:pPr>
            <a:r>
              <a:rPr lang="en-US" sz="1400" b="1" dirty="0">
                <a:solidFill>
                  <a:srgbClr val="2EC4B6"/>
                </a:solidFill>
                <a:latin typeface="Cambria" pitchFamily="34" charset="0"/>
                <a:ea typeface="Cambria" pitchFamily="34" charset="-122"/>
                <a:cs typeface="Cambria" pitchFamily="34" charset="-120"/>
              </a:rPr>
              <a:t>Cara Ngomonginnya</a:t>
            </a:r>
            <a:endParaRPr lang="en-US" sz="1400" dirty="0"/>
          </a:p>
        </p:txBody>
      </p:sp>
      <p:sp>
        <p:nvSpPr>
          <p:cNvPr id="16" name="Text 12"/>
          <p:cNvSpPr/>
          <p:nvPr/>
        </p:nvSpPr>
        <p:spPr>
          <a:xfrm>
            <a:off x="6629400" y="2468880"/>
            <a:ext cx="4709160" cy="3200400"/>
          </a:xfrm>
          <a:prstGeom prst="rect">
            <a:avLst/>
          </a:prstGeom>
          <a:noFill/>
          <a:ln/>
        </p:spPr>
        <p:txBody>
          <a:bodyPr wrap="square" lIns="0" tIns="0" rIns="0" bIns="0" rtlCol="0" anchor="t"/>
          <a:lstStyle/>
          <a:p>
            <a:pPr indent="0" marL="0">
              <a:lnSpc>
                <a:spcPct val="135000"/>
              </a:lnSpc>
              <a:buNone/>
            </a:pPr>
            <a:r>
              <a:rPr lang="en-US" sz="1350" i="1" dirty="0">
                <a:solidFill>
                  <a:srgbClr val="10243E"/>
                </a:solidFill>
                <a:latin typeface="Cambria" pitchFamily="34" charset="0"/>
                <a:ea typeface="Cambria" pitchFamily="34" charset="-122"/>
                <a:cs typeface="Cambria" pitchFamily="34" charset="-120"/>
              </a:rPr>
              <a:t>“Client itu kayak punya SATU LOKET. Pool itu kayak punya BEBERAPA LOKET sekaligus, otomatis dibagi-bagi. Aplikasi web ngelayanin BANYAK user bersamaan, jadi dari awal kita biasain pakai Pool, bukan Client satu-satu.”</a:t>
            </a:r>
            <a:endParaRPr lang="en-US" sz="1350" dirty="0"/>
          </a:p>
        </p:txBody>
      </p:sp>
      <p:sp>
        <p:nvSpPr>
          <p:cNvPr id="17" name="Text 13"/>
          <p:cNvSpPr/>
          <p:nvPr/>
        </p:nvSpPr>
        <p:spPr>
          <a:xfrm>
            <a:off x="548640" y="6519672"/>
            <a:ext cx="8229600" cy="274320"/>
          </a:xfrm>
          <a:prstGeom prst="rect">
            <a:avLst/>
          </a:prstGeom>
          <a:noFill/>
          <a:ln/>
        </p:spPr>
        <p:txBody>
          <a:bodyPr wrap="square" lIns="0" tIns="0" rIns="0" bIns="0" rtlCol="0" anchor="ctr"/>
          <a:lstStyle/>
          <a:p>
            <a:pPr indent="0" marL="0">
              <a:buNone/>
            </a:pPr>
            <a:r>
              <a:rPr lang="en-US" sz="900" dirty="0">
                <a:solidFill>
                  <a:srgbClr val="5C7A99"/>
                </a:solidFill>
                <a:latin typeface="Calibri" pitchFamily="34" charset="0"/>
                <a:ea typeface="Calibri" pitchFamily="34" charset="-122"/>
                <a:cs typeface="Calibri" pitchFamily="34" charset="-120"/>
              </a:rPr>
              <a:t>db.js, Parameterized Query, Migration &amp; Seeding</a:t>
            </a:r>
            <a:endParaRPr lang="en-US" sz="900" dirty="0"/>
          </a:p>
        </p:txBody>
      </p:sp>
      <p:sp>
        <p:nvSpPr>
          <p:cNvPr id="18" name="Text 14"/>
          <p:cNvSpPr/>
          <p:nvPr/>
        </p:nvSpPr>
        <p:spPr>
          <a:xfrm>
            <a:off x="11094415" y="6519672"/>
            <a:ext cx="548640" cy="274320"/>
          </a:xfrm>
          <a:prstGeom prst="rect">
            <a:avLst/>
          </a:prstGeom>
          <a:noFill/>
          <a:ln/>
        </p:spPr>
        <p:txBody>
          <a:bodyPr wrap="square" lIns="0" tIns="0" rIns="0" bIns="0" rtlCol="0" anchor="ctr"/>
          <a:lstStyle/>
          <a:p>
            <a:pPr algn="r" indent="0" marL="0">
              <a:buNone/>
            </a:pPr>
            <a:r>
              <a:rPr lang="en-US" sz="900" dirty="0">
                <a:solidFill>
                  <a:srgbClr val="5C7A9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EC4B6"/>
                </a:solidFill>
                <a:latin typeface="Calibri" pitchFamily="34" charset="0"/>
                <a:ea typeface="Calibri" pitchFamily="34" charset="-122"/>
                <a:cs typeface="Calibri" pitchFamily="34" charset="-120"/>
              </a:rPr>
              <a:t>02 · KONSEP INTI 3/3</a:t>
            </a:r>
            <a:endParaRPr lang="en-US" sz="1300" dirty="0"/>
          </a:p>
        </p:txBody>
      </p:sp>
      <p:sp>
        <p:nvSpPr>
          <p:cNvPr id="3" name="Text 1"/>
          <p:cNvSpPr/>
          <p:nvPr/>
        </p:nvSpPr>
        <p:spPr>
          <a:xfrm>
            <a:off x="548640" y="713232"/>
            <a:ext cx="10180015" cy="822960"/>
          </a:xfrm>
          <a:prstGeom prst="rect">
            <a:avLst/>
          </a:prstGeom>
          <a:noFill/>
          <a:ln/>
        </p:spPr>
        <p:txBody>
          <a:bodyPr wrap="square" lIns="0" tIns="0" rIns="0" bIns="0" rtlCol="0" anchor="ctr"/>
          <a:lstStyle/>
          <a:p>
            <a:pPr indent="0" marL="0">
              <a:buNone/>
            </a:pPr>
            <a:r>
              <a:rPr lang="en-US" sz="3000" b="1" dirty="0">
                <a:solidFill>
                  <a:srgbClr val="10243E"/>
                </a:solidFill>
                <a:latin typeface="Cambria" pitchFamily="34" charset="0"/>
                <a:ea typeface="Cambria" pitchFamily="34" charset="-122"/>
                <a:cs typeface="Cambria" pitchFamily="34" charset="-120"/>
              </a:rPr>
              <a:t>Parameterized Query</a:t>
            </a:r>
            <a:endParaRPr lang="en-US" sz="3000" dirty="0"/>
          </a:p>
        </p:txBody>
      </p:sp>
      <p:sp>
        <p:nvSpPr>
          <p:cNvPr id="4" name="Shape 2"/>
          <p:cNvSpPr/>
          <p:nvPr/>
        </p:nvSpPr>
        <p:spPr>
          <a:xfrm>
            <a:off x="10865815" y="658368"/>
            <a:ext cx="777240" cy="777240"/>
          </a:xfrm>
          <a:prstGeom prst="ellipse">
            <a:avLst/>
          </a:prstGeom>
          <a:solidFill>
            <a:srgbClr val="E3F7F4"/>
          </a:solidFill>
          <a:ln/>
        </p:spPr>
      </p:sp>
      <p:pic>
        <p:nvPicPr>
          <p:cNvPr id="5" name="Image 0" descr="preencoded.png">    </p:cNvPr>
          <p:cNvPicPr>
            <a:picLocks noChangeAspect="1"/>
          </p:cNvPicPr>
          <p:nvPr/>
        </p:nvPicPr>
        <p:blipFill>
          <a:blip r:embed="rId1"/>
          <a:stretch>
            <a:fillRect/>
          </a:stretch>
        </p:blipFill>
        <p:spPr>
          <a:xfrm>
            <a:off x="11052353" y="844906"/>
            <a:ext cx="404165" cy="404165"/>
          </a:xfrm>
          <a:prstGeom prst="rect">
            <a:avLst/>
          </a:prstGeom>
        </p:spPr>
      </p:pic>
      <p:sp>
        <p:nvSpPr>
          <p:cNvPr id="6" name="Shape 3"/>
          <p:cNvSpPr/>
          <p:nvPr/>
        </p:nvSpPr>
        <p:spPr>
          <a:xfrm>
            <a:off x="548640" y="1737360"/>
            <a:ext cx="5623560" cy="3017520"/>
          </a:xfrm>
          <a:prstGeom prst="roundRect">
            <a:avLst>
              <a:gd name="adj" fmla="val 2727"/>
            </a:avLst>
          </a:prstGeom>
          <a:solidFill>
            <a:srgbClr val="0B1929"/>
          </a:solidFill>
          <a:ln/>
          <a:effectLst>
            <a:outerShdw sx="100000" sy="100000" kx="0" ky="0" algn="bl" rotWithShape="0" blurRad="127000" dist="38100" dir="5400000">
              <a:srgbClr val="0B1929">
                <a:alpha val="35000"/>
              </a:srgbClr>
            </a:outerShdw>
          </a:effectLst>
        </p:spPr>
      </p:sp>
      <p:sp>
        <p:nvSpPr>
          <p:cNvPr id="7" name="Shape 4"/>
          <p:cNvSpPr/>
          <p:nvPr/>
        </p:nvSpPr>
        <p:spPr>
          <a:xfrm>
            <a:off x="713232" y="1883664"/>
            <a:ext cx="100584" cy="100584"/>
          </a:xfrm>
          <a:prstGeom prst="ellipse">
            <a:avLst/>
          </a:prstGeom>
          <a:solidFill>
            <a:srgbClr val="E8626B"/>
          </a:solidFill>
          <a:ln/>
        </p:spPr>
      </p:sp>
      <p:sp>
        <p:nvSpPr>
          <p:cNvPr id="8" name="Shape 5"/>
          <p:cNvSpPr/>
          <p:nvPr/>
        </p:nvSpPr>
        <p:spPr>
          <a:xfrm>
            <a:off x="877824" y="1883664"/>
            <a:ext cx="100584" cy="100584"/>
          </a:xfrm>
          <a:prstGeom prst="ellipse">
            <a:avLst/>
          </a:prstGeom>
          <a:solidFill>
            <a:srgbClr val="F2C14E"/>
          </a:solidFill>
          <a:ln/>
        </p:spPr>
      </p:sp>
      <p:sp>
        <p:nvSpPr>
          <p:cNvPr id="9" name="Shape 6"/>
          <p:cNvSpPr/>
          <p:nvPr/>
        </p:nvSpPr>
        <p:spPr>
          <a:xfrm>
            <a:off x="1042416" y="1883664"/>
            <a:ext cx="100584" cy="100584"/>
          </a:xfrm>
          <a:prstGeom prst="ellipse">
            <a:avLst/>
          </a:prstGeom>
          <a:solidFill>
            <a:srgbClr val="5FD07C"/>
          </a:solidFill>
          <a:ln/>
        </p:spPr>
      </p:sp>
      <p:sp>
        <p:nvSpPr>
          <p:cNvPr id="10" name="Text 7"/>
          <p:cNvSpPr/>
          <p:nvPr/>
        </p:nvSpPr>
        <p:spPr>
          <a:xfrm>
            <a:off x="804672" y="2121408"/>
            <a:ext cx="5111496" cy="2468880"/>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E8626B"/>
                </a:solidFill>
                <a:latin typeface="Courier New" pitchFamily="34" charset="0"/>
                <a:ea typeface="Courier New" pitchFamily="34" charset="-122"/>
                <a:cs typeface="Courier New" pitchFamily="34" charset="-120"/>
              </a:rPr>
              <a:t>// SALAH — BAHAYA (SQL Injection):</a:t>
            </a:r>
            <a:endParaRPr lang="en-US" sz="1150" dirty="0"/>
          </a:p>
          <a:p>
            <a:pPr indent="0" marL="0">
              <a:lnSpc>
                <a:spcPct val="112000"/>
              </a:lnSpc>
              <a:spcAft>
                <a:spcPts val="400"/>
              </a:spcAft>
              <a:buNone/>
            </a:pPr>
            <a:r>
              <a:rPr lang="en-US" sz="1150" dirty="0">
                <a:solidFill>
                  <a:srgbClr val="E8626B"/>
                </a:solidFill>
                <a:latin typeface="Courier New" pitchFamily="34" charset="0"/>
                <a:ea typeface="Courier New" pitchFamily="34" charset="-122"/>
                <a:cs typeface="Courier New" pitchFamily="34" charset="-120"/>
              </a:rPr>
              <a:t>pool.query(`SELECT * FROM siswa</a:t>
            </a:r>
            <a:endParaRPr lang="en-US" sz="1150" dirty="0"/>
          </a:p>
          <a:p>
            <a:pPr indent="0" marL="0">
              <a:lnSpc>
                <a:spcPct val="112000"/>
              </a:lnSpc>
              <a:spcAft>
                <a:spcPts val="1400"/>
              </a:spcAft>
              <a:buNone/>
            </a:pPr>
            <a:r>
              <a:rPr lang="en-US" sz="1150" dirty="0">
                <a:solidFill>
                  <a:srgbClr val="E8626B"/>
                </a:solidFill>
                <a:latin typeface="Courier New" pitchFamily="34" charset="0"/>
                <a:ea typeface="Courier New" pitchFamily="34" charset="-122"/>
                <a:cs typeface="Courier New" pitchFamily="34" charset="-120"/>
              </a:rPr>
              <a:t>  WHERE nama = '${namaInput}'`);</a:t>
            </a:r>
            <a:endParaRPr lang="en-US" sz="1150" dirty="0"/>
          </a:p>
          <a:p>
            <a:pPr indent="0" marL="0">
              <a:lnSpc>
                <a:spcPct val="112000"/>
              </a:lnSpc>
              <a:spcAft>
                <a:spcPts val="600"/>
              </a:spcAft>
              <a:buNone/>
            </a:pPr>
            <a:r>
              <a:rPr lang="en-US" sz="1150" dirty="0">
                <a:solidFill>
                  <a:srgbClr val="8FE3C7"/>
                </a:solidFill>
                <a:latin typeface="Courier New" pitchFamily="34" charset="0"/>
                <a:ea typeface="Courier New" pitchFamily="34" charset="-122"/>
                <a:cs typeface="Courier New" pitchFamily="34" charset="-120"/>
              </a:rPr>
              <a:t>// BENAR — placeholder $1, $2, dst:</a:t>
            </a:r>
            <a:endParaRPr lang="en-US" sz="1150" dirty="0"/>
          </a:p>
          <a:p>
            <a:pPr indent="0" marL="0">
              <a:lnSpc>
                <a:spcPct val="112000"/>
              </a:lnSpc>
              <a:spcAft>
                <a:spcPts val="400"/>
              </a:spcAft>
              <a:buNone/>
            </a:pPr>
            <a:r>
              <a:rPr lang="en-US" sz="1150" b="1" dirty="0">
                <a:solidFill>
                  <a:srgbClr val="8FE3C7"/>
                </a:solidFill>
                <a:latin typeface="Courier New" pitchFamily="34" charset="0"/>
                <a:ea typeface="Courier New" pitchFamily="34" charset="-122"/>
                <a:cs typeface="Courier New" pitchFamily="34" charset="-120"/>
              </a:rPr>
              <a:t>pool.query("SELECT * FROM siswa</a:t>
            </a:r>
            <a:endParaRPr lang="en-US" sz="1150" dirty="0"/>
          </a:p>
          <a:p>
            <a:pPr indent="0" marL="0">
              <a:lnSpc>
                <a:spcPct val="112000"/>
              </a:lnSpc>
              <a:spcAft>
                <a:spcPts val="400"/>
              </a:spcAft>
              <a:buNone/>
            </a:pPr>
            <a:r>
              <a:rPr lang="en-US" sz="1150" b="1" dirty="0">
                <a:solidFill>
                  <a:srgbClr val="8FE3C7"/>
                </a:solidFill>
                <a:latin typeface="Courier New" pitchFamily="34" charset="0"/>
                <a:ea typeface="Courier New" pitchFamily="34" charset="-122"/>
                <a:cs typeface="Courier New" pitchFamily="34" charset="-120"/>
              </a:rPr>
              <a:t>  WHERE nama = $1", [namaInput]);</a:t>
            </a:r>
            <a:endParaRPr lang="en-US" sz="1150" dirty="0"/>
          </a:p>
        </p:txBody>
      </p:sp>
      <p:sp>
        <p:nvSpPr>
          <p:cNvPr id="11" name="Text 8"/>
          <p:cNvSpPr/>
          <p:nvPr/>
        </p:nvSpPr>
        <p:spPr>
          <a:xfrm>
            <a:off x="548640" y="4892040"/>
            <a:ext cx="5623560" cy="146304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300" dirty="0">
                <a:solidFill>
                  <a:srgbClr val="10243E"/>
                </a:solidFill>
                <a:latin typeface="Calibri" pitchFamily="34" charset="0"/>
                <a:ea typeface="Calibri" pitchFamily="34" charset="-122"/>
                <a:cs typeface="Calibri" pitchFamily="34" charset="-120"/>
              </a:rPr>
              <a:t>$1, $2, ... itu “titik kosong” di query, diisi dari array kedua di pool.query(text, [nilai]).</a:t>
            </a:r>
            <a:endParaRPr lang="en-US" sz="1300" dirty="0"/>
          </a:p>
          <a:p>
            <a:pPr marL="177800" indent="-177800">
              <a:lnSpc>
                <a:spcPct val="115000"/>
              </a:lnSpc>
              <a:spcAft>
                <a:spcPts val="1000"/>
              </a:spcAft>
              <a:buSzPct val="100000"/>
              <a:buChar char="•"/>
            </a:pPr>
            <a:r>
              <a:rPr lang="en-US" sz="1300" dirty="0">
                <a:solidFill>
                  <a:srgbClr val="10243E"/>
                </a:solidFill>
                <a:latin typeface="Calibri" pitchFamily="34" charset="0"/>
                <a:ea typeface="Calibri" pitchFamily="34" charset="-122"/>
                <a:cs typeface="Calibri" pitchFamily="34" charset="-120"/>
              </a:rPr>
              <a:t>pg yang ngurus escaping-nya — bukan kamu nyambung teks manual.</a:t>
            </a:r>
            <a:endParaRPr lang="en-US" sz="1300" dirty="0"/>
          </a:p>
        </p:txBody>
      </p:sp>
      <p:sp>
        <p:nvSpPr>
          <p:cNvPr id="12" name="Shape 9"/>
          <p:cNvSpPr/>
          <p:nvPr/>
        </p:nvSpPr>
        <p:spPr>
          <a:xfrm>
            <a:off x="6355080" y="1737360"/>
            <a:ext cx="5257800" cy="4709160"/>
          </a:xfrm>
          <a:prstGeom prst="roundRect">
            <a:avLst>
              <a:gd name="adj" fmla="val 1942"/>
            </a:avLst>
          </a:prstGeom>
          <a:solidFill>
            <a:srgbClr val="FFFFFF"/>
          </a:solidFill>
          <a:ln w="12700">
            <a:solidFill>
              <a:srgbClr val="DCE6EC"/>
            </a:solidFill>
            <a:prstDash val="solid"/>
          </a:ln>
          <a:effectLst>
            <a:outerShdw sx="100000" sy="100000" kx="0" ky="0" algn="bl" rotWithShape="0" blurRad="101600" dist="25400" dir="5400000">
              <a:srgbClr val="10243E">
                <a:alpha val="10000"/>
              </a:srgbClr>
            </a:outerShdw>
          </a:effectLst>
        </p:spPr>
      </p:sp>
      <p:sp>
        <p:nvSpPr>
          <p:cNvPr id="13" name="Text 10"/>
          <p:cNvSpPr/>
          <p:nvPr/>
        </p:nvSpPr>
        <p:spPr>
          <a:xfrm>
            <a:off x="6629400" y="1965960"/>
            <a:ext cx="4709160" cy="365760"/>
          </a:xfrm>
          <a:prstGeom prst="rect">
            <a:avLst/>
          </a:prstGeom>
          <a:noFill/>
          <a:ln/>
        </p:spPr>
        <p:txBody>
          <a:bodyPr wrap="square" lIns="0" tIns="0" rIns="0" bIns="0" rtlCol="0" anchor="ctr"/>
          <a:lstStyle/>
          <a:p>
            <a:pPr indent="0" marL="0">
              <a:buNone/>
            </a:pPr>
            <a:r>
              <a:rPr lang="en-US" sz="1400" b="1" dirty="0">
                <a:solidFill>
                  <a:srgbClr val="2EC4B6"/>
                </a:solidFill>
                <a:latin typeface="Cambria" pitchFamily="34" charset="0"/>
                <a:ea typeface="Cambria" pitchFamily="34" charset="-122"/>
                <a:cs typeface="Cambria" pitchFamily="34" charset="-120"/>
              </a:rPr>
              <a:t>Cara Ngomonginnya</a:t>
            </a:r>
            <a:endParaRPr lang="en-US" sz="1400" dirty="0"/>
          </a:p>
        </p:txBody>
      </p:sp>
      <p:sp>
        <p:nvSpPr>
          <p:cNvPr id="14" name="Text 11"/>
          <p:cNvSpPr/>
          <p:nvPr/>
        </p:nvSpPr>
        <p:spPr>
          <a:xfrm>
            <a:off x="6629400" y="2423160"/>
            <a:ext cx="4709160" cy="3749040"/>
          </a:xfrm>
          <a:prstGeom prst="rect">
            <a:avLst/>
          </a:prstGeom>
          <a:noFill/>
          <a:ln/>
        </p:spPr>
        <p:txBody>
          <a:bodyPr wrap="square" lIns="0" tIns="0" rIns="0" bIns="0" rtlCol="0" anchor="t"/>
          <a:lstStyle/>
          <a:p>
            <a:pPr indent="0" marL="0">
              <a:lnSpc>
                <a:spcPct val="135000"/>
              </a:lnSpc>
              <a:buNone/>
            </a:pPr>
            <a:r>
              <a:rPr lang="en-US" sz="1350" i="1" dirty="0">
                <a:solidFill>
                  <a:srgbClr val="10243E"/>
                </a:solidFill>
                <a:latin typeface="Cambria" pitchFamily="34" charset="0"/>
                <a:ea typeface="Cambria" pitchFamily="34" charset="-122"/>
                <a:cs typeface="Cambria" pitchFamily="34" charset="-120"/>
              </a:rPr>
              <a:t>“Bayangin query itu FORMULIR, dan $1 itu KOTAK KHUSUS buat diisi jawaban. Jawabannya, apa pun isinya, DIPERLAKUKAN SEBAGAI DATA — gak akan pernah dianggap PERINTAH tambahan. Kalau kamu nyambung teks langsung, batas antara 'ini data' sama 'ini perintah' jadi ilang.”</a:t>
            </a:r>
            <a:endParaRPr lang="en-US" sz="1350" dirty="0"/>
          </a:p>
        </p:txBody>
      </p:sp>
      <p:sp>
        <p:nvSpPr>
          <p:cNvPr id="15" name="Text 12"/>
          <p:cNvSpPr/>
          <p:nvPr/>
        </p:nvSpPr>
        <p:spPr>
          <a:xfrm>
            <a:off x="548640" y="6519672"/>
            <a:ext cx="8229600" cy="274320"/>
          </a:xfrm>
          <a:prstGeom prst="rect">
            <a:avLst/>
          </a:prstGeom>
          <a:noFill/>
          <a:ln/>
        </p:spPr>
        <p:txBody>
          <a:bodyPr wrap="square" lIns="0" tIns="0" rIns="0" bIns="0" rtlCol="0" anchor="ctr"/>
          <a:lstStyle/>
          <a:p>
            <a:pPr indent="0" marL="0">
              <a:buNone/>
            </a:pPr>
            <a:r>
              <a:rPr lang="en-US" sz="900" dirty="0">
                <a:solidFill>
                  <a:srgbClr val="5C7A99"/>
                </a:solidFill>
                <a:latin typeface="Calibri" pitchFamily="34" charset="0"/>
                <a:ea typeface="Calibri" pitchFamily="34" charset="-122"/>
                <a:cs typeface="Calibri" pitchFamily="34" charset="-120"/>
              </a:rPr>
              <a:t>db.js, Parameterized Query, Migration &amp; Seeding</a:t>
            </a:r>
            <a:endParaRPr lang="en-US" sz="900" dirty="0"/>
          </a:p>
        </p:txBody>
      </p:sp>
      <p:sp>
        <p:nvSpPr>
          <p:cNvPr id="16" name="Text 13"/>
          <p:cNvSpPr/>
          <p:nvPr/>
        </p:nvSpPr>
        <p:spPr>
          <a:xfrm>
            <a:off x="11094415" y="6519672"/>
            <a:ext cx="548640" cy="274320"/>
          </a:xfrm>
          <a:prstGeom prst="rect">
            <a:avLst/>
          </a:prstGeom>
          <a:noFill/>
          <a:ln/>
        </p:spPr>
        <p:txBody>
          <a:bodyPr wrap="square" lIns="0" tIns="0" rIns="0" bIns="0" rtlCol="0" anchor="ctr"/>
          <a:lstStyle/>
          <a:p>
            <a:pPr algn="r" indent="0" marL="0">
              <a:buNone/>
            </a:pPr>
            <a:r>
              <a:rPr lang="en-US" sz="900" dirty="0">
                <a:solidFill>
                  <a:srgbClr val="5C7A9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EC4B6"/>
                </a:solidFill>
                <a:latin typeface="Calibri" pitchFamily="34" charset="0"/>
                <a:ea typeface="Calibri" pitchFamily="34" charset="-122"/>
                <a:cs typeface="Calibri" pitchFamily="34" charset="-120"/>
              </a:rPr>
              <a:t>⚠ PERINGATAN KEAMANAN</a:t>
            </a:r>
            <a:endParaRPr lang="en-US" sz="1300" dirty="0"/>
          </a:p>
        </p:txBody>
      </p:sp>
      <p:sp>
        <p:nvSpPr>
          <p:cNvPr id="3" name="Text 1"/>
          <p:cNvSpPr/>
          <p:nvPr/>
        </p:nvSpPr>
        <p:spPr>
          <a:xfrm>
            <a:off x="548640" y="713232"/>
            <a:ext cx="10180015" cy="822960"/>
          </a:xfrm>
          <a:prstGeom prst="rect">
            <a:avLst/>
          </a:prstGeom>
          <a:noFill/>
          <a:ln/>
        </p:spPr>
        <p:txBody>
          <a:bodyPr wrap="square" lIns="0" tIns="0" rIns="0" bIns="0" rtlCol="0" anchor="ctr"/>
          <a:lstStyle/>
          <a:p>
            <a:pPr indent="0" marL="0">
              <a:buNone/>
            </a:pPr>
            <a:r>
              <a:rPr lang="en-US" sz="3000" b="1" dirty="0">
                <a:solidFill>
                  <a:srgbClr val="10243E"/>
                </a:solidFill>
                <a:latin typeface="Cambria" pitchFamily="34" charset="0"/>
                <a:ea typeface="Cambria" pitchFamily="34" charset="-122"/>
                <a:cs typeface="Cambria" pitchFamily="34" charset="-120"/>
              </a:rPr>
              <a:t>SQL Injection — Ini Bukan Soal Gaya Nulis Kode</a:t>
            </a:r>
            <a:endParaRPr lang="en-US" sz="3000" dirty="0"/>
          </a:p>
        </p:txBody>
      </p:sp>
      <p:sp>
        <p:nvSpPr>
          <p:cNvPr id="4" name="Shape 2"/>
          <p:cNvSpPr/>
          <p:nvPr/>
        </p:nvSpPr>
        <p:spPr>
          <a:xfrm>
            <a:off x="548640" y="1783080"/>
            <a:ext cx="11094415" cy="4160520"/>
          </a:xfrm>
          <a:prstGeom prst="roundRect">
            <a:avLst>
              <a:gd name="adj" fmla="val 2637"/>
            </a:avLst>
          </a:prstGeom>
          <a:solidFill>
            <a:srgbClr val="FCE9EB"/>
          </a:solidFill>
          <a:ln/>
        </p:spPr>
      </p:sp>
      <p:sp>
        <p:nvSpPr>
          <p:cNvPr id="5" name="Shape 3"/>
          <p:cNvSpPr/>
          <p:nvPr/>
        </p:nvSpPr>
        <p:spPr>
          <a:xfrm>
            <a:off x="914400" y="2103120"/>
            <a:ext cx="777240" cy="7772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077620" y="2266340"/>
            <a:ext cx="450799" cy="450799"/>
          </a:xfrm>
          <a:prstGeom prst="rect">
            <a:avLst/>
          </a:prstGeom>
        </p:spPr>
      </p:pic>
      <p:sp>
        <p:nvSpPr>
          <p:cNvPr id="7" name="Text 4"/>
          <p:cNvSpPr/>
          <p:nvPr/>
        </p:nvSpPr>
        <p:spPr>
          <a:xfrm>
            <a:off x="1965960" y="2121408"/>
            <a:ext cx="8961120" cy="502920"/>
          </a:xfrm>
          <a:prstGeom prst="rect">
            <a:avLst/>
          </a:prstGeom>
          <a:noFill/>
          <a:ln/>
        </p:spPr>
        <p:txBody>
          <a:bodyPr wrap="square" lIns="0" tIns="0" rIns="0" bIns="0" rtlCol="0" anchor="ctr"/>
          <a:lstStyle/>
          <a:p>
            <a:pPr indent="0" marL="0">
              <a:buNone/>
            </a:pPr>
            <a:r>
              <a:rPr lang="en-US" sz="1800" b="1" dirty="0">
                <a:solidFill>
                  <a:srgbClr val="C9273B"/>
                </a:solidFill>
                <a:latin typeface="Cambria" pitchFamily="34" charset="0"/>
                <a:ea typeface="Cambria" pitchFamily="34" charset="-122"/>
                <a:cs typeface="Cambria" pitchFamily="34" charset="-120"/>
              </a:rPr>
              <a:t>Placeholder $1/$2 WAJIB dipakai, gak ada pengecualian</a:t>
            </a:r>
            <a:endParaRPr lang="en-US" sz="1800" dirty="0"/>
          </a:p>
        </p:txBody>
      </p:sp>
      <p:sp>
        <p:nvSpPr>
          <p:cNvPr id="8" name="Shape 5"/>
          <p:cNvSpPr/>
          <p:nvPr/>
        </p:nvSpPr>
        <p:spPr>
          <a:xfrm>
            <a:off x="914400" y="2880360"/>
            <a:ext cx="10362895" cy="1600200"/>
          </a:xfrm>
          <a:prstGeom prst="roundRect">
            <a:avLst>
              <a:gd name="adj" fmla="val 5143"/>
            </a:avLst>
          </a:prstGeom>
          <a:solidFill>
            <a:srgbClr val="0B1929"/>
          </a:solidFill>
          <a:ln/>
          <a:effectLst>
            <a:outerShdw sx="100000" sy="100000" kx="0" ky="0" algn="bl" rotWithShape="0" blurRad="127000" dist="38100" dir="5400000">
              <a:srgbClr val="0B1929">
                <a:alpha val="35000"/>
              </a:srgbClr>
            </a:outerShdw>
          </a:effectLst>
        </p:spPr>
      </p:sp>
      <p:sp>
        <p:nvSpPr>
          <p:cNvPr id="9" name="Shape 6"/>
          <p:cNvSpPr/>
          <p:nvPr/>
        </p:nvSpPr>
        <p:spPr>
          <a:xfrm>
            <a:off x="1078992" y="3026664"/>
            <a:ext cx="100584" cy="100584"/>
          </a:xfrm>
          <a:prstGeom prst="ellipse">
            <a:avLst/>
          </a:prstGeom>
          <a:solidFill>
            <a:srgbClr val="E8626B"/>
          </a:solidFill>
          <a:ln/>
        </p:spPr>
      </p:sp>
      <p:sp>
        <p:nvSpPr>
          <p:cNvPr id="10" name="Shape 7"/>
          <p:cNvSpPr/>
          <p:nvPr/>
        </p:nvSpPr>
        <p:spPr>
          <a:xfrm>
            <a:off x="1243584" y="3026664"/>
            <a:ext cx="100584" cy="100584"/>
          </a:xfrm>
          <a:prstGeom prst="ellipse">
            <a:avLst/>
          </a:prstGeom>
          <a:solidFill>
            <a:srgbClr val="F2C14E"/>
          </a:solidFill>
          <a:ln/>
        </p:spPr>
      </p:sp>
      <p:sp>
        <p:nvSpPr>
          <p:cNvPr id="11" name="Shape 8"/>
          <p:cNvSpPr/>
          <p:nvPr/>
        </p:nvSpPr>
        <p:spPr>
          <a:xfrm>
            <a:off x="1408176" y="3026664"/>
            <a:ext cx="100584" cy="100584"/>
          </a:xfrm>
          <a:prstGeom prst="ellipse">
            <a:avLst/>
          </a:prstGeom>
          <a:solidFill>
            <a:srgbClr val="5FD07C"/>
          </a:solidFill>
          <a:ln/>
        </p:spPr>
      </p:sp>
      <p:sp>
        <p:nvSpPr>
          <p:cNvPr id="12" name="Text 9"/>
          <p:cNvSpPr/>
          <p:nvPr/>
        </p:nvSpPr>
        <p:spPr>
          <a:xfrm>
            <a:off x="1170432" y="3264408"/>
            <a:ext cx="9850831" cy="1051560"/>
          </a:xfrm>
          <a:prstGeom prst="rect">
            <a:avLst/>
          </a:prstGeom>
          <a:noFill/>
          <a:ln/>
        </p:spPr>
        <p:txBody>
          <a:bodyPr wrap="square" lIns="0" tIns="0" rIns="0" bIns="0" rtlCol="0" anchor="t"/>
          <a:lstStyle/>
          <a:p>
            <a:pPr indent="0" marL="0">
              <a:lnSpc>
                <a:spcPct val="112000"/>
              </a:lnSpc>
              <a:spcAft>
                <a:spcPts val="400"/>
              </a:spcAft>
              <a:buNone/>
            </a:pPr>
            <a:r>
              <a:rPr lang="en-US" sz="1300" dirty="0">
                <a:solidFill>
                  <a:srgbClr val="E8626B"/>
                </a:solidFill>
                <a:latin typeface="Courier New" pitchFamily="34" charset="0"/>
                <a:ea typeface="Courier New" pitchFamily="34" charset="-122"/>
                <a:cs typeface="Courier New" pitchFamily="34" charset="-120"/>
              </a:rPr>
              <a:t>const nama = "x'; DROP TABLE siswa; --";</a:t>
            </a:r>
            <a:endParaRPr lang="en-US" sz="1300" dirty="0"/>
          </a:p>
          <a:p>
            <a:pPr indent="0" marL="0">
              <a:lnSpc>
                <a:spcPct val="112000"/>
              </a:lnSpc>
              <a:spcAft>
                <a:spcPts val="1000"/>
              </a:spcAft>
              <a:buNone/>
            </a:pPr>
            <a:r>
              <a:rPr lang="en-US" sz="1300" dirty="0">
                <a:solidFill>
                  <a:srgbClr val="E8626B"/>
                </a:solidFill>
                <a:latin typeface="Courier New" pitchFamily="34" charset="0"/>
                <a:ea typeface="Courier New" pitchFamily="34" charset="-122"/>
                <a:cs typeface="Courier New" pitchFamily="34" charset="-120"/>
              </a:rPr>
              <a:t>pool.query(`... WHERE nama = '${nama}'`);</a:t>
            </a:r>
            <a:endParaRPr lang="en-US" sz="1300" dirty="0"/>
          </a:p>
          <a:p>
            <a:pPr indent="0" marL="0">
              <a:lnSpc>
                <a:spcPct val="112000"/>
              </a:lnSpc>
              <a:spcAft>
                <a:spcPts val="400"/>
              </a:spcAft>
              <a:buNone/>
            </a:pPr>
            <a:r>
              <a:rPr lang="en-US" sz="1100" dirty="0">
                <a:solidFill>
                  <a:srgbClr val="6E93A8"/>
                </a:solidFill>
                <a:latin typeface="Courier New" pitchFamily="34" charset="0"/>
                <a:ea typeface="Courier New" pitchFamily="34" charset="-122"/>
                <a:cs typeface="Courier New" pitchFamily="34" charset="-120"/>
              </a:rPr>
              <a:t>// query yang BENERAN dijalanin ke database:</a:t>
            </a:r>
            <a:endParaRPr lang="en-US" sz="1300" dirty="0"/>
          </a:p>
          <a:p>
            <a:pPr indent="0" marL="0">
              <a:lnSpc>
                <a:spcPct val="112000"/>
              </a:lnSpc>
              <a:spcAft>
                <a:spcPts val="400"/>
              </a:spcAft>
              <a:buNone/>
            </a:pPr>
            <a:r>
              <a:rPr lang="en-US" sz="1100" dirty="0">
                <a:solidFill>
                  <a:srgbClr val="E8626B"/>
                </a:solidFill>
                <a:latin typeface="Courier New" pitchFamily="34" charset="0"/>
                <a:ea typeface="Courier New" pitchFamily="34" charset="-122"/>
                <a:cs typeface="Courier New" pitchFamily="34" charset="-120"/>
              </a:rPr>
              <a:t>// ... WHERE nama = 'x'; DROP TABLE siswa; --'</a:t>
            </a:r>
            <a:endParaRPr lang="en-US" sz="1300" dirty="0"/>
          </a:p>
        </p:txBody>
      </p:sp>
      <p:sp>
        <p:nvSpPr>
          <p:cNvPr id="13" name="Text 10"/>
          <p:cNvSpPr/>
          <p:nvPr/>
        </p:nvSpPr>
        <p:spPr>
          <a:xfrm>
            <a:off x="914400" y="4663440"/>
            <a:ext cx="10362895" cy="1143000"/>
          </a:xfrm>
          <a:prstGeom prst="rect">
            <a:avLst/>
          </a:prstGeom>
          <a:noFill/>
          <a:ln/>
        </p:spPr>
        <p:txBody>
          <a:bodyPr wrap="square" lIns="0" tIns="0" rIns="0" bIns="0" rtlCol="0" anchor="t"/>
          <a:lstStyle/>
          <a:p>
            <a:pPr indent="0" marL="0">
              <a:lnSpc>
                <a:spcPct val="130000"/>
              </a:lnSpc>
              <a:buNone/>
            </a:pPr>
            <a:r>
              <a:rPr lang="en-US" sz="1300" dirty="0">
                <a:solidFill>
                  <a:srgbClr val="10243E"/>
                </a:solidFill>
                <a:latin typeface="Calibri" pitchFamily="34" charset="0"/>
                <a:ea typeface="Calibri" pitchFamily="34" charset="-122"/>
                <a:cs typeface="Calibri" pitchFamily="34" charset="-120"/>
              </a:rPr>
              <a:t>Setiap kali nilai yang datangnya dari LUAR (input user, parameter URL, body request) disambung langsung ke teks query, orang lain bisa “nitip” perintah SQL tambahan lewat input itu. Placeholder ($1, $2) mencegah ini total — nilai yang masuk SELALU diperlakukan sebagai data, gak pernah sebagai perintah.</a:t>
            </a:r>
            <a:endParaRPr lang="en-US" sz="1300" dirty="0"/>
          </a:p>
        </p:txBody>
      </p:sp>
      <p:sp>
        <p:nvSpPr>
          <p:cNvPr id="14" name="Text 11"/>
          <p:cNvSpPr/>
          <p:nvPr/>
        </p:nvSpPr>
        <p:spPr>
          <a:xfrm>
            <a:off x="548640" y="6519672"/>
            <a:ext cx="8229600" cy="274320"/>
          </a:xfrm>
          <a:prstGeom prst="rect">
            <a:avLst/>
          </a:prstGeom>
          <a:noFill/>
          <a:ln/>
        </p:spPr>
        <p:txBody>
          <a:bodyPr wrap="square" lIns="0" tIns="0" rIns="0" bIns="0" rtlCol="0" anchor="ctr"/>
          <a:lstStyle/>
          <a:p>
            <a:pPr indent="0" marL="0">
              <a:buNone/>
            </a:pPr>
            <a:r>
              <a:rPr lang="en-US" sz="900" dirty="0">
                <a:solidFill>
                  <a:srgbClr val="5C7A99"/>
                </a:solidFill>
                <a:latin typeface="Calibri" pitchFamily="34" charset="0"/>
                <a:ea typeface="Calibri" pitchFamily="34" charset="-122"/>
                <a:cs typeface="Calibri" pitchFamily="34" charset="-120"/>
              </a:rPr>
              <a:t>db.js, Parameterized Query, Migration &amp; Seeding</a:t>
            </a:r>
            <a:endParaRPr lang="en-US" sz="900" dirty="0"/>
          </a:p>
        </p:txBody>
      </p:sp>
      <p:sp>
        <p:nvSpPr>
          <p:cNvPr id="15" name="Text 12"/>
          <p:cNvSpPr/>
          <p:nvPr/>
        </p:nvSpPr>
        <p:spPr>
          <a:xfrm>
            <a:off x="11094415" y="6519672"/>
            <a:ext cx="548640" cy="274320"/>
          </a:xfrm>
          <a:prstGeom prst="rect">
            <a:avLst/>
          </a:prstGeom>
          <a:noFill/>
          <a:ln/>
        </p:spPr>
        <p:txBody>
          <a:bodyPr wrap="square" lIns="0" tIns="0" rIns="0" bIns="0" rtlCol="0" anchor="ctr"/>
          <a:lstStyle/>
          <a:p>
            <a:pPr algn="r" indent="0" marL="0">
              <a:buNone/>
            </a:pPr>
            <a:r>
              <a:rPr lang="en-US" sz="900" dirty="0">
                <a:solidFill>
                  <a:srgbClr val="5C7A9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EC4B6"/>
                </a:solidFill>
                <a:latin typeface="Calibri" pitchFamily="34" charset="0"/>
                <a:ea typeface="Calibri" pitchFamily="34" charset="-122"/>
                <a:cs typeface="Calibri" pitchFamily="34" charset="-120"/>
              </a:rPr>
              <a:t>03 · MIGRATION 1/3</a:t>
            </a:r>
            <a:endParaRPr lang="en-US" sz="1300" dirty="0"/>
          </a:p>
        </p:txBody>
      </p:sp>
      <p:sp>
        <p:nvSpPr>
          <p:cNvPr id="3" name="Text 1"/>
          <p:cNvSpPr/>
          <p:nvPr/>
        </p:nvSpPr>
        <p:spPr>
          <a:xfrm>
            <a:off x="548640" y="713232"/>
            <a:ext cx="10180015" cy="822960"/>
          </a:xfrm>
          <a:prstGeom prst="rect">
            <a:avLst/>
          </a:prstGeom>
          <a:noFill/>
          <a:ln/>
        </p:spPr>
        <p:txBody>
          <a:bodyPr wrap="square" lIns="0" tIns="0" rIns="0" bIns="0" rtlCol="0" anchor="ctr"/>
          <a:lstStyle/>
          <a:p>
            <a:pPr indent="0" marL="0">
              <a:buNone/>
            </a:pPr>
            <a:r>
              <a:rPr lang="en-US" sz="3000" b="1" dirty="0">
                <a:solidFill>
                  <a:srgbClr val="10243E"/>
                </a:solidFill>
                <a:latin typeface="Cambria" pitchFamily="34" charset="0"/>
                <a:ea typeface="Cambria" pitchFamily="34" charset="-122"/>
                <a:cs typeface="Cambria" pitchFamily="34" charset="-120"/>
              </a:rPr>
              <a:t>Migration — Kenapa Manual Gak Cukup?</a:t>
            </a:r>
            <a:endParaRPr lang="en-US" sz="3000" dirty="0"/>
          </a:p>
        </p:txBody>
      </p:sp>
      <p:sp>
        <p:nvSpPr>
          <p:cNvPr id="4" name="Shape 2"/>
          <p:cNvSpPr/>
          <p:nvPr/>
        </p:nvSpPr>
        <p:spPr>
          <a:xfrm>
            <a:off x="10865815" y="658368"/>
            <a:ext cx="777240" cy="777240"/>
          </a:xfrm>
          <a:prstGeom prst="ellipse">
            <a:avLst/>
          </a:prstGeom>
          <a:solidFill>
            <a:srgbClr val="E3F7F4"/>
          </a:solidFill>
          <a:ln/>
        </p:spPr>
      </p:sp>
      <p:pic>
        <p:nvPicPr>
          <p:cNvPr id="5" name="Image 0" descr="preencoded.png">    </p:cNvPr>
          <p:cNvPicPr>
            <a:picLocks noChangeAspect="1"/>
          </p:cNvPicPr>
          <p:nvPr/>
        </p:nvPicPr>
        <p:blipFill>
          <a:blip r:embed="rId1"/>
          <a:stretch>
            <a:fillRect/>
          </a:stretch>
        </p:blipFill>
        <p:spPr>
          <a:xfrm>
            <a:off x="11052353" y="844906"/>
            <a:ext cx="404165" cy="404165"/>
          </a:xfrm>
          <a:prstGeom prst="rect">
            <a:avLst/>
          </a:prstGeom>
        </p:spPr>
      </p:pic>
      <p:sp>
        <p:nvSpPr>
          <p:cNvPr id="6" name="Text 3"/>
          <p:cNvSpPr/>
          <p:nvPr/>
        </p:nvSpPr>
        <p:spPr>
          <a:xfrm>
            <a:off x="548640" y="1783080"/>
            <a:ext cx="5623560" cy="4206240"/>
          </a:xfrm>
          <a:prstGeom prst="rect">
            <a:avLst/>
          </a:prstGeom>
          <a:noFill/>
          <a:ln/>
        </p:spPr>
        <p:txBody>
          <a:bodyPr wrap="square" lIns="0" tIns="0" rIns="0" bIns="0" rtlCol="0" anchor="t"/>
          <a:lstStyle/>
          <a:p>
            <a:pPr marL="177800" indent="-177800">
              <a:lnSpc>
                <a:spcPct val="115000"/>
              </a:lnSpc>
              <a:spcAft>
                <a:spcPts val="1600"/>
              </a:spcAft>
              <a:buSzPct val="100000"/>
              <a:buChar char="•"/>
            </a:pPr>
            <a:r>
              <a:rPr lang="en-US" sz="1400" dirty="0">
                <a:solidFill>
                  <a:srgbClr val="10243E"/>
                </a:solidFill>
                <a:latin typeface="Calibri" pitchFamily="34" charset="0"/>
                <a:ea typeface="Calibri" pitchFamily="34" charset="-122"/>
                <a:cs typeface="Calibri" pitchFamily="34" charset="-120"/>
              </a:rPr>
              <a:t>CREATE TABLE yang kamu ketik manual di psql kemarin cuma nempel di DATABASE KAMU doang.</a:t>
            </a:r>
            <a:endParaRPr lang="en-US" sz="1400" dirty="0"/>
          </a:p>
          <a:p>
            <a:pPr marL="177800" indent="-177800">
              <a:lnSpc>
                <a:spcPct val="115000"/>
              </a:lnSpc>
              <a:spcAft>
                <a:spcPts val="1600"/>
              </a:spcAft>
              <a:buSzPct val="100000"/>
              <a:buChar char="•"/>
            </a:pPr>
            <a:r>
              <a:rPr lang="en-US" sz="1400" dirty="0">
                <a:solidFill>
                  <a:srgbClr val="10243E"/>
                </a:solidFill>
                <a:latin typeface="Calibri" pitchFamily="34" charset="0"/>
                <a:ea typeface="Calibri" pitchFamily="34" charset="-122"/>
                <a:cs typeface="Calibri" pitchFamily="34" charset="-120"/>
              </a:rPr>
              <a:t>Begitu ada murid lain, atau project ini di-deploy ke server, gimana caranya SEMUA tempat itu punya struktur tabel yang SAMA PERSIS?</a:t>
            </a:r>
            <a:endParaRPr lang="en-US" sz="1400" dirty="0"/>
          </a:p>
          <a:p>
            <a:pPr marL="177800" indent="-177800">
              <a:lnSpc>
                <a:spcPct val="115000"/>
              </a:lnSpc>
              <a:spcAft>
                <a:spcPts val="1600"/>
              </a:spcAft>
              <a:buSzPct val="100000"/>
              <a:buChar char="•"/>
            </a:pPr>
            <a:r>
              <a:rPr lang="en-US" sz="1400" dirty="0">
                <a:solidFill>
                  <a:srgbClr val="10243E"/>
                </a:solidFill>
                <a:latin typeface="Calibri" pitchFamily="34" charset="0"/>
                <a:ea typeface="Calibri" pitchFamily="34" charset="-122"/>
                <a:cs typeface="Calibri" pitchFamily="34" charset="-120"/>
              </a:rPr>
              <a:t>Ketik manual ulang satu-satu? Gampang lupa, gampang beda antara satu komputer dengan komputer lain.</a:t>
            </a:r>
            <a:endParaRPr lang="en-US" sz="1400" dirty="0"/>
          </a:p>
          <a:p>
            <a:pPr marL="177800" indent="-177800">
              <a:lnSpc>
                <a:spcPct val="115000"/>
              </a:lnSpc>
              <a:spcAft>
                <a:spcPts val="1600"/>
              </a:spcAft>
              <a:buSzPct val="100000"/>
              <a:buChar char="•"/>
            </a:pPr>
            <a:r>
              <a:rPr lang="en-US" sz="1400" dirty="0">
                <a:solidFill>
                  <a:srgbClr val="10243E"/>
                </a:solidFill>
                <a:latin typeface="Calibri" pitchFamily="34" charset="0"/>
                <a:ea typeface="Calibri" pitchFamily="34" charset="-122"/>
                <a:cs typeface="Calibri" pitchFamily="34" charset="-120"/>
              </a:rPr>
              <a:t>Migration = solusinya: file SQL bernomor yang bisa “diputer ulang” di komputer mana pun, hasilnya PASTI sama.</a:t>
            </a:r>
            <a:endParaRPr lang="en-US" sz="1400" dirty="0"/>
          </a:p>
        </p:txBody>
      </p:sp>
      <p:sp>
        <p:nvSpPr>
          <p:cNvPr id="7" name="Shape 4"/>
          <p:cNvSpPr/>
          <p:nvPr/>
        </p:nvSpPr>
        <p:spPr>
          <a:xfrm>
            <a:off x="6355080" y="1783080"/>
            <a:ext cx="5257800" cy="4160520"/>
          </a:xfrm>
          <a:prstGeom prst="roundRect">
            <a:avLst>
              <a:gd name="adj" fmla="val 2198"/>
            </a:avLst>
          </a:prstGeom>
          <a:solidFill>
            <a:srgbClr val="FFFFFF"/>
          </a:solidFill>
          <a:ln w="12700">
            <a:solidFill>
              <a:srgbClr val="DCE6EC"/>
            </a:solidFill>
            <a:prstDash val="solid"/>
          </a:ln>
          <a:effectLst>
            <a:outerShdw sx="100000" sy="100000" kx="0" ky="0" algn="bl" rotWithShape="0" blurRad="101600" dist="25400" dir="5400000">
              <a:srgbClr val="10243E">
                <a:alpha val="10000"/>
              </a:srgbClr>
            </a:outerShdw>
          </a:effectLst>
        </p:spPr>
      </p:sp>
      <p:sp>
        <p:nvSpPr>
          <p:cNvPr id="8" name="Text 5"/>
          <p:cNvSpPr/>
          <p:nvPr/>
        </p:nvSpPr>
        <p:spPr>
          <a:xfrm>
            <a:off x="6629400" y="2011680"/>
            <a:ext cx="4709160" cy="365760"/>
          </a:xfrm>
          <a:prstGeom prst="rect">
            <a:avLst/>
          </a:prstGeom>
          <a:noFill/>
          <a:ln/>
        </p:spPr>
        <p:txBody>
          <a:bodyPr wrap="square" lIns="0" tIns="0" rIns="0" bIns="0" rtlCol="0" anchor="ctr"/>
          <a:lstStyle/>
          <a:p>
            <a:pPr indent="0" marL="0">
              <a:buNone/>
            </a:pPr>
            <a:r>
              <a:rPr lang="en-US" sz="1400" b="1" dirty="0">
                <a:solidFill>
                  <a:srgbClr val="2EC4B6"/>
                </a:solidFill>
                <a:latin typeface="Cambria" pitchFamily="34" charset="0"/>
                <a:ea typeface="Cambria" pitchFamily="34" charset="-122"/>
                <a:cs typeface="Cambria" pitchFamily="34" charset="-120"/>
              </a:rPr>
              <a:t>Cara Ngomonginnya</a:t>
            </a:r>
            <a:endParaRPr lang="en-US" sz="1400" dirty="0"/>
          </a:p>
        </p:txBody>
      </p:sp>
      <p:sp>
        <p:nvSpPr>
          <p:cNvPr id="9" name="Text 6"/>
          <p:cNvSpPr/>
          <p:nvPr/>
        </p:nvSpPr>
        <p:spPr>
          <a:xfrm>
            <a:off x="6629400" y="2468880"/>
            <a:ext cx="4709160" cy="3200400"/>
          </a:xfrm>
          <a:prstGeom prst="rect">
            <a:avLst/>
          </a:prstGeom>
          <a:noFill/>
          <a:ln/>
        </p:spPr>
        <p:txBody>
          <a:bodyPr wrap="square" lIns="0" tIns="0" rIns="0" bIns="0" rtlCol="0" anchor="t"/>
          <a:lstStyle/>
          <a:p>
            <a:pPr indent="0" marL="0">
              <a:lnSpc>
                <a:spcPct val="135000"/>
              </a:lnSpc>
              <a:buNone/>
            </a:pPr>
            <a:r>
              <a:rPr lang="en-US" sz="1350" i="1" dirty="0">
                <a:solidFill>
                  <a:srgbClr val="10243E"/>
                </a:solidFill>
                <a:latin typeface="Cambria" pitchFamily="34" charset="0"/>
                <a:ea typeface="Cambria" pitchFamily="34" charset="-122"/>
                <a:cs typeface="Cambria" pitchFamily="34" charset="-120"/>
              </a:rPr>
              <a:t>“Sama kayak CREATE TABLE yang kamu ketik manual di psql cuma nempel di laptop kamu doang — kalau butuh setup di komputer lain, kamu harus inget &amp; ketik ulang semua persis sama. Migration itu solusinya: catetan langkah yang bisa 'diputer ulang' di komputer mana pun, hasilnya PASTI identik.”</a:t>
            </a:r>
            <a:endParaRPr lang="en-US" sz="1350" dirty="0"/>
          </a:p>
        </p:txBody>
      </p:sp>
      <p:sp>
        <p:nvSpPr>
          <p:cNvPr id="10" name="Text 7"/>
          <p:cNvSpPr/>
          <p:nvPr/>
        </p:nvSpPr>
        <p:spPr>
          <a:xfrm>
            <a:off x="548640" y="6519672"/>
            <a:ext cx="8229600" cy="274320"/>
          </a:xfrm>
          <a:prstGeom prst="rect">
            <a:avLst/>
          </a:prstGeom>
          <a:noFill/>
          <a:ln/>
        </p:spPr>
        <p:txBody>
          <a:bodyPr wrap="square" lIns="0" tIns="0" rIns="0" bIns="0" rtlCol="0" anchor="ctr"/>
          <a:lstStyle/>
          <a:p>
            <a:pPr indent="0" marL="0">
              <a:buNone/>
            </a:pPr>
            <a:r>
              <a:rPr lang="en-US" sz="900" dirty="0">
                <a:solidFill>
                  <a:srgbClr val="5C7A99"/>
                </a:solidFill>
                <a:latin typeface="Calibri" pitchFamily="34" charset="0"/>
                <a:ea typeface="Calibri" pitchFamily="34" charset="-122"/>
                <a:cs typeface="Calibri" pitchFamily="34" charset="-120"/>
              </a:rPr>
              <a:t>db.js, Parameterized Query, Migration &amp; Seeding</a:t>
            </a:r>
            <a:endParaRPr lang="en-US" sz="900" dirty="0"/>
          </a:p>
        </p:txBody>
      </p:sp>
      <p:sp>
        <p:nvSpPr>
          <p:cNvPr id="11" name="Text 8"/>
          <p:cNvSpPr/>
          <p:nvPr/>
        </p:nvSpPr>
        <p:spPr>
          <a:xfrm>
            <a:off x="11094415" y="6519672"/>
            <a:ext cx="548640" cy="274320"/>
          </a:xfrm>
          <a:prstGeom prst="rect">
            <a:avLst/>
          </a:prstGeom>
          <a:noFill/>
          <a:ln/>
        </p:spPr>
        <p:txBody>
          <a:bodyPr wrap="square" lIns="0" tIns="0" rIns="0" bIns="0" rtlCol="0" anchor="ctr"/>
          <a:lstStyle/>
          <a:p>
            <a:pPr algn="r" indent="0" marL="0">
              <a:buNone/>
            </a:pPr>
            <a:r>
              <a:rPr lang="en-US" sz="900" dirty="0">
                <a:solidFill>
                  <a:srgbClr val="5C7A9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EC4B6"/>
                </a:solidFill>
                <a:latin typeface="Calibri" pitchFamily="34" charset="0"/>
                <a:ea typeface="Calibri" pitchFamily="34" charset="-122"/>
                <a:cs typeface="Calibri" pitchFamily="34" charset="-120"/>
              </a:rPr>
              <a:t>03 · MIGRATION 2/3</a:t>
            </a:r>
            <a:endParaRPr lang="en-US" sz="1300" dirty="0"/>
          </a:p>
        </p:txBody>
      </p:sp>
      <p:sp>
        <p:nvSpPr>
          <p:cNvPr id="3" name="Text 1"/>
          <p:cNvSpPr/>
          <p:nvPr/>
        </p:nvSpPr>
        <p:spPr>
          <a:xfrm>
            <a:off x="548640" y="713232"/>
            <a:ext cx="10180015" cy="822960"/>
          </a:xfrm>
          <a:prstGeom prst="rect">
            <a:avLst/>
          </a:prstGeom>
          <a:noFill/>
          <a:ln/>
        </p:spPr>
        <p:txBody>
          <a:bodyPr wrap="square" lIns="0" tIns="0" rIns="0" bIns="0" rtlCol="0" anchor="ctr"/>
          <a:lstStyle/>
          <a:p>
            <a:pPr indent="0" marL="0">
              <a:buNone/>
            </a:pPr>
            <a:r>
              <a:rPr lang="en-US" sz="3000" b="1" dirty="0">
                <a:solidFill>
                  <a:srgbClr val="10243E"/>
                </a:solidFill>
                <a:latin typeface="Cambria" pitchFamily="34" charset="0"/>
                <a:ea typeface="Cambria" pitchFamily="34" charset="-122"/>
                <a:cs typeface="Cambria" pitchFamily="34" charset="-120"/>
              </a:rPr>
              <a:t>File Bernomor + Daftar Hadir schema_migrations</a:t>
            </a:r>
            <a:endParaRPr lang="en-US" sz="3000" dirty="0"/>
          </a:p>
        </p:txBody>
      </p:sp>
      <p:sp>
        <p:nvSpPr>
          <p:cNvPr id="4" name="Shape 2"/>
          <p:cNvSpPr/>
          <p:nvPr/>
        </p:nvSpPr>
        <p:spPr>
          <a:xfrm>
            <a:off x="548640" y="1783080"/>
            <a:ext cx="5120640" cy="4160520"/>
          </a:xfrm>
          <a:prstGeom prst="roundRect">
            <a:avLst>
              <a:gd name="adj" fmla="val 2198"/>
            </a:avLst>
          </a:prstGeom>
          <a:solidFill>
            <a:srgbClr val="0B1929"/>
          </a:solidFill>
          <a:ln/>
          <a:effectLst>
            <a:outerShdw sx="100000" sy="100000" kx="0" ky="0" algn="bl" rotWithShape="0" blurRad="127000" dist="38100" dir="5400000">
              <a:srgbClr val="0B1929">
                <a:alpha val="35000"/>
              </a:srgbClr>
            </a:outerShdw>
          </a:effectLst>
        </p:spPr>
      </p:sp>
      <p:sp>
        <p:nvSpPr>
          <p:cNvPr id="5" name="Shape 3"/>
          <p:cNvSpPr/>
          <p:nvPr/>
        </p:nvSpPr>
        <p:spPr>
          <a:xfrm>
            <a:off x="822960" y="2057400"/>
            <a:ext cx="502920" cy="502920"/>
          </a:xfrm>
          <a:prstGeom prst="ellipse">
            <a:avLst/>
          </a:prstGeom>
          <a:solidFill>
            <a:srgbClr val="17324F"/>
          </a:solidFill>
          <a:ln/>
        </p:spPr>
      </p:sp>
      <p:pic>
        <p:nvPicPr>
          <p:cNvPr id="6" name="Image 0" descr="preencoded.png">    </p:cNvPr>
          <p:cNvPicPr>
            <a:picLocks noChangeAspect="1"/>
          </p:cNvPicPr>
          <p:nvPr/>
        </p:nvPicPr>
        <p:blipFill>
          <a:blip r:embed="rId1"/>
          <a:stretch>
            <a:fillRect/>
          </a:stretch>
        </p:blipFill>
        <p:spPr>
          <a:xfrm>
            <a:off x="936117" y="2170557"/>
            <a:ext cx="276606" cy="276606"/>
          </a:xfrm>
          <a:prstGeom prst="rect">
            <a:avLst/>
          </a:prstGeom>
        </p:spPr>
      </p:pic>
      <p:sp>
        <p:nvSpPr>
          <p:cNvPr id="7" name="Text 4"/>
          <p:cNvSpPr/>
          <p:nvPr/>
        </p:nvSpPr>
        <p:spPr>
          <a:xfrm>
            <a:off x="1463040" y="2057400"/>
            <a:ext cx="3931920" cy="502920"/>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migrations/</a:t>
            </a:r>
            <a:endParaRPr lang="en-US" sz="1500" dirty="0"/>
          </a:p>
        </p:txBody>
      </p:sp>
      <p:sp>
        <p:nvSpPr>
          <p:cNvPr id="8" name="Text 5"/>
          <p:cNvSpPr/>
          <p:nvPr/>
        </p:nvSpPr>
        <p:spPr>
          <a:xfrm>
            <a:off x="914400" y="2834640"/>
            <a:ext cx="4389120" cy="1097280"/>
          </a:xfrm>
          <a:prstGeom prst="rect">
            <a:avLst/>
          </a:prstGeom>
          <a:noFill/>
          <a:ln/>
        </p:spPr>
        <p:txBody>
          <a:bodyPr wrap="square" lIns="0" tIns="0" rIns="0" bIns="0" rtlCol="0" anchor="t"/>
          <a:lstStyle/>
          <a:p>
            <a:pPr indent="0" marL="0">
              <a:spcAft>
                <a:spcPts val="1000"/>
              </a:spcAft>
              <a:buNone/>
            </a:pPr>
            <a:r>
              <a:rPr lang="en-US" sz="1400" dirty="0">
                <a:solidFill>
                  <a:srgbClr val="8FE3C7"/>
                </a:solidFill>
                <a:latin typeface="Courier New" pitchFamily="34" charset="0"/>
                <a:ea typeface="Courier New" pitchFamily="34" charset="-122"/>
                <a:cs typeface="Courier New" pitchFamily="34" charset="-120"/>
              </a:rPr>
              <a:t>├── 001_create_buku.sql</a:t>
            </a:r>
            <a:endParaRPr lang="en-US" sz="1400" dirty="0"/>
          </a:p>
          <a:p>
            <a:pPr indent="0" marL="0">
              <a:spcAft>
                <a:spcPts val="1000"/>
              </a:spcAft>
              <a:buNone/>
            </a:pPr>
            <a:r>
              <a:rPr lang="en-US" sz="1400" dirty="0">
                <a:solidFill>
                  <a:srgbClr val="8FE3C7"/>
                </a:solidFill>
                <a:latin typeface="Courier New" pitchFamily="34" charset="0"/>
                <a:ea typeface="Courier New" pitchFamily="34" charset="-122"/>
                <a:cs typeface="Courier New" pitchFamily="34" charset="-120"/>
              </a:rPr>
              <a:t>└── 002_tambah_kolom_stok.sql</a:t>
            </a:r>
            <a:endParaRPr lang="en-US" sz="1400" dirty="0"/>
          </a:p>
        </p:txBody>
      </p:sp>
      <p:sp>
        <p:nvSpPr>
          <p:cNvPr id="9" name="Text 6"/>
          <p:cNvSpPr/>
          <p:nvPr/>
        </p:nvSpPr>
        <p:spPr>
          <a:xfrm>
            <a:off x="914400" y="4160520"/>
            <a:ext cx="4389120" cy="1554480"/>
          </a:xfrm>
          <a:prstGeom prst="rect">
            <a:avLst/>
          </a:prstGeom>
          <a:noFill/>
          <a:ln/>
        </p:spPr>
        <p:txBody>
          <a:bodyPr wrap="square" lIns="0" tIns="0" rIns="0" bIns="0" rtlCol="0" anchor="t"/>
          <a:lstStyle/>
          <a:p>
            <a:pPr indent="0" marL="0">
              <a:lnSpc>
                <a:spcPct val="130000"/>
              </a:lnSpc>
              <a:buNone/>
            </a:pPr>
            <a:r>
              <a:rPr lang="en-US" sz="1250" dirty="0">
                <a:solidFill>
                  <a:srgbClr val="B9CBD8"/>
                </a:solidFill>
                <a:latin typeface="Calibri" pitchFamily="34" charset="0"/>
                <a:ea typeface="Calibri" pitchFamily="34" charset="-122"/>
                <a:cs typeface="Calibri" pitchFamily="34" charset="-120"/>
              </a:rPr>
              <a:t>Nomor di depan nama file = URUTAN dijalanin. Harus berurutan karena migration ke-2 mungkin butuh tabel dari migration ke-1.</a:t>
            </a:r>
            <a:endParaRPr lang="en-US" sz="1250" dirty="0"/>
          </a:p>
        </p:txBody>
      </p:sp>
      <p:sp>
        <p:nvSpPr>
          <p:cNvPr id="10" name="Shape 7"/>
          <p:cNvSpPr/>
          <p:nvPr/>
        </p:nvSpPr>
        <p:spPr>
          <a:xfrm>
            <a:off x="6355080" y="1783080"/>
            <a:ext cx="5257800" cy="4160520"/>
          </a:xfrm>
          <a:prstGeom prst="roundRect">
            <a:avLst>
              <a:gd name="adj" fmla="val 2198"/>
            </a:avLst>
          </a:prstGeom>
          <a:solidFill>
            <a:srgbClr val="FFFFFF"/>
          </a:solidFill>
          <a:ln w="12700">
            <a:solidFill>
              <a:srgbClr val="DCE6EC"/>
            </a:solidFill>
            <a:prstDash val="solid"/>
          </a:ln>
          <a:effectLst>
            <a:outerShdw sx="100000" sy="100000" kx="0" ky="0" algn="bl" rotWithShape="0" blurRad="101600" dist="25400" dir="5400000">
              <a:srgbClr val="10243E">
                <a:alpha val="10000"/>
              </a:srgbClr>
            </a:outerShdw>
          </a:effectLst>
        </p:spPr>
      </p:sp>
      <p:sp>
        <p:nvSpPr>
          <p:cNvPr id="11" name="Shape 8"/>
          <p:cNvSpPr/>
          <p:nvPr/>
        </p:nvSpPr>
        <p:spPr>
          <a:xfrm>
            <a:off x="6629400" y="2057400"/>
            <a:ext cx="502920" cy="502920"/>
          </a:xfrm>
          <a:prstGeom prst="ellipse">
            <a:avLst/>
          </a:prstGeom>
          <a:solidFill>
            <a:srgbClr val="E3F7F4"/>
          </a:solidFill>
          <a:ln/>
        </p:spPr>
      </p:sp>
      <p:pic>
        <p:nvPicPr>
          <p:cNvPr id="12" name="Image 1" descr="preencoded.png">    </p:cNvPr>
          <p:cNvPicPr>
            <a:picLocks noChangeAspect="1"/>
          </p:cNvPicPr>
          <p:nvPr/>
        </p:nvPicPr>
        <p:blipFill>
          <a:blip r:embed="rId2"/>
          <a:stretch>
            <a:fillRect/>
          </a:stretch>
        </p:blipFill>
        <p:spPr>
          <a:xfrm>
            <a:off x="6742557" y="2170557"/>
            <a:ext cx="276606" cy="276606"/>
          </a:xfrm>
          <a:prstGeom prst="rect">
            <a:avLst/>
          </a:prstGeom>
        </p:spPr>
      </p:pic>
      <p:sp>
        <p:nvSpPr>
          <p:cNvPr id="13" name="Text 9"/>
          <p:cNvSpPr/>
          <p:nvPr/>
        </p:nvSpPr>
        <p:spPr>
          <a:xfrm>
            <a:off x="7269480" y="2057400"/>
            <a:ext cx="4069080" cy="502920"/>
          </a:xfrm>
          <a:prstGeom prst="rect">
            <a:avLst/>
          </a:prstGeom>
          <a:noFill/>
          <a:ln/>
        </p:spPr>
        <p:txBody>
          <a:bodyPr wrap="square" lIns="0" tIns="0" rIns="0" bIns="0" rtlCol="0" anchor="ctr"/>
          <a:lstStyle/>
          <a:p>
            <a:pPr indent="0" marL="0">
              <a:buNone/>
            </a:pPr>
            <a:r>
              <a:rPr lang="en-US" sz="1500" b="1" dirty="0">
                <a:solidFill>
                  <a:srgbClr val="10243E"/>
                </a:solidFill>
                <a:latin typeface="Cambria" pitchFamily="34" charset="0"/>
                <a:ea typeface="Cambria" pitchFamily="34" charset="-122"/>
                <a:cs typeface="Cambria" pitchFamily="34" charset="-120"/>
              </a:rPr>
              <a:t>Tabel schema_migrations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29400" y="2743200"/>
          <a:ext cx="4709160" cy="914400"/>
        </p:xfrm>
        <a:graphic>
          <a:graphicData uri="http://schemas.openxmlformats.org/drawingml/2006/table">
            <a:tbl>
              <a:tblPr/>
              <a:tblGrid>
                <a:gridCol w="2880360"/>
                <a:gridCol w="182880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filename</a:t>
                      </a:r>
                      <a:endParaRPr lang="en-US" sz="11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10243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applied_at</a:t>
                      </a:r>
                      <a:endParaRPr lang="en-US" sz="11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10243E"/>
                    </a:solidFill>
                  </a:tcPr>
                </a:tc>
              </a:tr>
              <a:tr h="457200">
                <a:tc>
                  <a:txBody>
                    <a:bodyPr/>
                    <a:lstStyle/>
                    <a:p>
                      <a:pPr indent="0" marL="0">
                        <a:buNone/>
                      </a:pPr>
                      <a:r>
                        <a:rPr lang="en-US" sz="1050" dirty="0">
                          <a:solidFill>
                            <a:srgbClr val="10243E"/>
                          </a:solidFill>
                          <a:latin typeface="Courier New" pitchFamily="34" charset="0"/>
                          <a:ea typeface="Courier New" pitchFamily="34" charset="-122"/>
                          <a:cs typeface="Courier New" pitchFamily="34" charset="-120"/>
                        </a:rPr>
                        <a:t>001_create_buku.sql</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2026-08-03 09:12</a:t>
                      </a:r>
                      <a:endParaRPr lang="en-US" sz="110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r>
              <a:tr h="457200">
                <a:tc>
                  <a:txBody>
                    <a:bodyPr/>
                    <a:lstStyle/>
                    <a:p>
                      <a:pPr indent="0" marL="0">
                        <a:buNone/>
                      </a:pPr>
                      <a:r>
                        <a:rPr lang="en-US" sz="1050" dirty="0">
                          <a:solidFill>
                            <a:srgbClr val="10243E"/>
                          </a:solidFill>
                          <a:latin typeface="Courier New" pitchFamily="34" charset="0"/>
                          <a:ea typeface="Courier New" pitchFamily="34" charset="-122"/>
                          <a:cs typeface="Courier New" pitchFamily="34" charset="-120"/>
                        </a:rPr>
                        <a:t>002_tambah_kolom_stok.sql</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2026-08-03 09:12</a:t>
                      </a:r>
                      <a:endParaRPr lang="en-US" sz="110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r>
            </a:tbl>
          </a:graphicData>
        </a:graphic>
      </p:graphicFrame>
      <p:sp>
        <p:nvSpPr>
          <p:cNvPr id="15" name="Text 10"/>
          <p:cNvSpPr/>
          <p:nvPr/>
        </p:nvSpPr>
        <p:spPr>
          <a:xfrm>
            <a:off x="6629400" y="4389120"/>
            <a:ext cx="4709160" cy="1371600"/>
          </a:xfrm>
          <a:prstGeom prst="rect">
            <a:avLst/>
          </a:prstGeom>
          <a:noFill/>
          <a:ln/>
        </p:spPr>
        <p:txBody>
          <a:bodyPr wrap="square" lIns="0" tIns="0" rIns="0" bIns="0" rtlCol="0" anchor="t"/>
          <a:lstStyle/>
          <a:p>
            <a:pPr indent="0" marL="0">
              <a:lnSpc>
                <a:spcPct val="130000"/>
              </a:lnSpc>
              <a:buNone/>
            </a:pPr>
            <a:r>
              <a:rPr lang="en-US" sz="1250" dirty="0">
                <a:solidFill>
                  <a:srgbClr val="5C7A99"/>
                </a:solidFill>
                <a:latin typeface="Calibri" pitchFamily="34" charset="0"/>
                <a:ea typeface="Calibri" pitchFamily="34" charset="-122"/>
                <a:cs typeface="Calibri" pitchFamily="34" charset="-120"/>
              </a:rPr>
              <a:t>Sebelum jalanin file migration, runner cek dulu: “file ini udah absen di sini belum?” — kalau udah, di-skip. Ini yang bikin migration IDEMPOTENT: dijalanin sekali atau seratus kali, hasilnya sama.</a:t>
            </a:r>
            <a:endParaRPr lang="en-US" sz="1250" dirty="0"/>
          </a:p>
        </p:txBody>
      </p:sp>
      <p:sp>
        <p:nvSpPr>
          <p:cNvPr id="16" name="Text 11"/>
          <p:cNvSpPr/>
          <p:nvPr/>
        </p:nvSpPr>
        <p:spPr>
          <a:xfrm>
            <a:off x="548640" y="6519672"/>
            <a:ext cx="8229600" cy="274320"/>
          </a:xfrm>
          <a:prstGeom prst="rect">
            <a:avLst/>
          </a:prstGeom>
          <a:noFill/>
          <a:ln/>
        </p:spPr>
        <p:txBody>
          <a:bodyPr wrap="square" lIns="0" tIns="0" rIns="0" bIns="0" rtlCol="0" anchor="ctr"/>
          <a:lstStyle/>
          <a:p>
            <a:pPr indent="0" marL="0">
              <a:buNone/>
            </a:pPr>
            <a:r>
              <a:rPr lang="en-US" sz="900" dirty="0">
                <a:solidFill>
                  <a:srgbClr val="5C7A99"/>
                </a:solidFill>
                <a:latin typeface="Calibri" pitchFamily="34" charset="0"/>
                <a:ea typeface="Calibri" pitchFamily="34" charset="-122"/>
                <a:cs typeface="Calibri" pitchFamily="34" charset="-120"/>
              </a:rPr>
              <a:t>db.js, Parameterized Query, Migration &amp; Seeding</a:t>
            </a:r>
            <a:endParaRPr lang="en-US" sz="900" dirty="0"/>
          </a:p>
        </p:txBody>
      </p:sp>
      <p:sp>
        <p:nvSpPr>
          <p:cNvPr id="17" name="Text 12"/>
          <p:cNvSpPr/>
          <p:nvPr/>
        </p:nvSpPr>
        <p:spPr>
          <a:xfrm>
            <a:off x="11094415" y="6519672"/>
            <a:ext cx="548640" cy="274320"/>
          </a:xfrm>
          <a:prstGeom prst="rect">
            <a:avLst/>
          </a:prstGeom>
          <a:noFill/>
          <a:ln/>
        </p:spPr>
        <p:txBody>
          <a:bodyPr wrap="square" lIns="0" tIns="0" rIns="0" bIns="0" rtlCol="0" anchor="ctr"/>
          <a:lstStyle/>
          <a:p>
            <a:pPr algn="r" indent="0" marL="0">
              <a:buNone/>
            </a:pPr>
            <a:r>
              <a:rPr lang="en-US" sz="900" dirty="0">
                <a:solidFill>
                  <a:srgbClr val="5C7A9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EC4B6"/>
                </a:solidFill>
                <a:latin typeface="Calibri" pitchFamily="34" charset="0"/>
                <a:ea typeface="Calibri" pitchFamily="34" charset="-122"/>
                <a:cs typeface="Calibri" pitchFamily="34" charset="-120"/>
              </a:rPr>
              <a:t>03 · MIGRATION 3/3</a:t>
            </a:r>
            <a:endParaRPr lang="en-US" sz="1300" dirty="0"/>
          </a:p>
        </p:txBody>
      </p:sp>
      <p:sp>
        <p:nvSpPr>
          <p:cNvPr id="3" name="Text 1"/>
          <p:cNvSpPr/>
          <p:nvPr/>
        </p:nvSpPr>
        <p:spPr>
          <a:xfrm>
            <a:off x="548640" y="713232"/>
            <a:ext cx="10180015" cy="822960"/>
          </a:xfrm>
          <a:prstGeom prst="rect">
            <a:avLst/>
          </a:prstGeom>
          <a:noFill/>
          <a:ln/>
        </p:spPr>
        <p:txBody>
          <a:bodyPr wrap="square" lIns="0" tIns="0" rIns="0" bIns="0" rtlCol="0" anchor="ctr"/>
          <a:lstStyle/>
          <a:p>
            <a:pPr indent="0" marL="0">
              <a:buNone/>
            </a:pPr>
            <a:r>
              <a:rPr lang="en-US" sz="3000" b="1" dirty="0">
                <a:solidFill>
                  <a:srgbClr val="10243E"/>
                </a:solidFill>
                <a:latin typeface="Cambria" pitchFamily="34" charset="0"/>
                <a:ea typeface="Cambria" pitchFamily="34" charset="-122"/>
                <a:cs typeface="Cambria" pitchFamily="34" charset="-120"/>
              </a:rPr>
              <a:t>Runner-nya — test/migrate.js</a:t>
            </a:r>
            <a:endParaRPr lang="en-US" sz="3000" dirty="0"/>
          </a:p>
        </p:txBody>
      </p:sp>
      <p:sp>
        <p:nvSpPr>
          <p:cNvPr id="4" name="Shape 2"/>
          <p:cNvSpPr/>
          <p:nvPr/>
        </p:nvSpPr>
        <p:spPr>
          <a:xfrm>
            <a:off x="10865815" y="658368"/>
            <a:ext cx="777240" cy="777240"/>
          </a:xfrm>
          <a:prstGeom prst="ellipse">
            <a:avLst/>
          </a:prstGeom>
          <a:solidFill>
            <a:srgbClr val="E3F7F4"/>
          </a:solidFill>
          <a:ln/>
        </p:spPr>
      </p:sp>
      <p:pic>
        <p:nvPicPr>
          <p:cNvPr id="5" name="Image 0" descr="preencoded.png">    </p:cNvPr>
          <p:cNvPicPr>
            <a:picLocks noChangeAspect="1"/>
          </p:cNvPicPr>
          <p:nvPr/>
        </p:nvPicPr>
        <p:blipFill>
          <a:blip r:embed="rId1"/>
          <a:stretch>
            <a:fillRect/>
          </a:stretch>
        </p:blipFill>
        <p:spPr>
          <a:xfrm>
            <a:off x="11052353" y="844906"/>
            <a:ext cx="404165" cy="404165"/>
          </a:xfrm>
          <a:prstGeom prst="rect">
            <a:avLst/>
          </a:prstGeom>
        </p:spPr>
      </p:pic>
      <p:sp>
        <p:nvSpPr>
          <p:cNvPr id="6" name="Shape 3"/>
          <p:cNvSpPr/>
          <p:nvPr/>
        </p:nvSpPr>
        <p:spPr>
          <a:xfrm>
            <a:off x="548640" y="1737360"/>
            <a:ext cx="5623560" cy="4206240"/>
          </a:xfrm>
          <a:prstGeom prst="roundRect">
            <a:avLst>
              <a:gd name="adj" fmla="val 1957"/>
            </a:avLst>
          </a:prstGeom>
          <a:solidFill>
            <a:srgbClr val="0B1929"/>
          </a:solidFill>
          <a:ln/>
          <a:effectLst>
            <a:outerShdw sx="100000" sy="100000" kx="0" ky="0" algn="bl" rotWithShape="0" blurRad="127000" dist="38100" dir="5400000">
              <a:srgbClr val="0B1929">
                <a:alpha val="35000"/>
              </a:srgbClr>
            </a:outerShdw>
          </a:effectLst>
        </p:spPr>
      </p:sp>
      <p:sp>
        <p:nvSpPr>
          <p:cNvPr id="7" name="Shape 4"/>
          <p:cNvSpPr/>
          <p:nvPr/>
        </p:nvSpPr>
        <p:spPr>
          <a:xfrm>
            <a:off x="713232" y="1883664"/>
            <a:ext cx="100584" cy="100584"/>
          </a:xfrm>
          <a:prstGeom prst="ellipse">
            <a:avLst/>
          </a:prstGeom>
          <a:solidFill>
            <a:srgbClr val="E8626B"/>
          </a:solidFill>
          <a:ln/>
        </p:spPr>
      </p:sp>
      <p:sp>
        <p:nvSpPr>
          <p:cNvPr id="8" name="Shape 5"/>
          <p:cNvSpPr/>
          <p:nvPr/>
        </p:nvSpPr>
        <p:spPr>
          <a:xfrm>
            <a:off x="877824" y="1883664"/>
            <a:ext cx="100584" cy="100584"/>
          </a:xfrm>
          <a:prstGeom prst="ellipse">
            <a:avLst/>
          </a:prstGeom>
          <a:solidFill>
            <a:srgbClr val="F2C14E"/>
          </a:solidFill>
          <a:ln/>
        </p:spPr>
      </p:sp>
      <p:sp>
        <p:nvSpPr>
          <p:cNvPr id="9" name="Shape 6"/>
          <p:cNvSpPr/>
          <p:nvPr/>
        </p:nvSpPr>
        <p:spPr>
          <a:xfrm>
            <a:off x="1042416" y="1883664"/>
            <a:ext cx="100584" cy="100584"/>
          </a:xfrm>
          <a:prstGeom prst="ellipse">
            <a:avLst/>
          </a:prstGeom>
          <a:solidFill>
            <a:srgbClr val="5FD07C"/>
          </a:solidFill>
          <a:ln/>
        </p:spPr>
      </p:sp>
      <p:sp>
        <p:nvSpPr>
          <p:cNvPr id="10" name="Text 7"/>
          <p:cNvSpPr/>
          <p:nvPr/>
        </p:nvSpPr>
        <p:spPr>
          <a:xfrm>
            <a:off x="804672" y="2121408"/>
            <a:ext cx="5111496" cy="3657600"/>
          </a:xfrm>
          <a:prstGeom prst="rect">
            <a:avLst/>
          </a:prstGeom>
          <a:noFill/>
          <a:ln/>
        </p:spPr>
        <p:txBody>
          <a:bodyPr wrap="square" lIns="0" tIns="0" rIns="0" bIns="0" rtlCol="0" anchor="t"/>
          <a:lstStyle/>
          <a:p>
            <a:pPr indent="0" marL="0">
              <a:lnSpc>
                <a:spcPct val="112000"/>
              </a:lnSpc>
              <a:spcAft>
                <a:spcPts val="400"/>
              </a:spcAft>
              <a:buNone/>
            </a:pPr>
            <a:r>
              <a:rPr lang="en-US" sz="1250" dirty="0">
                <a:solidFill>
                  <a:srgbClr val="8FE3C7"/>
                </a:solidFill>
                <a:latin typeface="Courier New" pitchFamily="34" charset="0"/>
                <a:ea typeface="Courier New" pitchFamily="34" charset="-122"/>
                <a:cs typeface="Courier New" pitchFamily="34" charset="-120"/>
              </a:rPr>
              <a:t>for (const file of files) {</a:t>
            </a:r>
            <a:endParaRPr lang="en-US" sz="1250" dirty="0"/>
          </a:p>
          <a:p>
            <a:pPr indent="0" marL="0">
              <a:lnSpc>
                <a:spcPct val="112000"/>
              </a:lnSpc>
              <a:spcAft>
                <a:spcPts val="400"/>
              </a:spcAft>
              <a:buNone/>
            </a:pPr>
            <a:r>
              <a:rPr lang="en-US" sz="1250" dirty="0">
                <a:solidFill>
                  <a:srgbClr val="8FE3C7"/>
                </a:solidFill>
                <a:latin typeface="Courier New" pitchFamily="34" charset="0"/>
                <a:ea typeface="Courier New" pitchFamily="34" charset="-122"/>
                <a:cs typeface="Courier New" pitchFamily="34" charset="-120"/>
              </a:rPr>
              <a:t>  if (sudahJalan.has(file)) continue;</a:t>
            </a:r>
            <a:endParaRPr lang="en-US" sz="1250" dirty="0"/>
          </a:p>
          <a:p>
            <a:pPr indent="0" marL="0">
              <a:lnSpc>
                <a:spcPct val="112000"/>
              </a:lnSpc>
              <a:spcAft>
                <a:spcPts val="400"/>
              </a:spcAft>
              <a:buNone/>
            </a:pPr>
            <a:endParaRPr lang="en-US" sz="1250" dirty="0"/>
          </a:p>
          <a:p>
            <a:pPr indent="0" marL="0">
              <a:lnSpc>
                <a:spcPct val="112000"/>
              </a:lnSpc>
              <a:spcAft>
                <a:spcPts val="400"/>
              </a:spcAft>
              <a:buNone/>
            </a:pPr>
            <a:r>
              <a:rPr lang="en-US" sz="1250" dirty="0">
                <a:solidFill>
                  <a:srgbClr val="8FE3C7"/>
                </a:solidFill>
                <a:latin typeface="Courier New" pitchFamily="34" charset="0"/>
                <a:ea typeface="Courier New" pitchFamily="34" charset="-122"/>
                <a:cs typeface="Courier New" pitchFamily="34" charset="-120"/>
              </a:rPr>
              <a:t>  const sql = fs.readFileSync(file);</a:t>
            </a:r>
            <a:endParaRPr lang="en-US" sz="1250" dirty="0"/>
          </a:p>
          <a:p>
            <a:pPr indent="0" marL="0">
              <a:lnSpc>
                <a:spcPct val="112000"/>
              </a:lnSpc>
              <a:spcAft>
                <a:spcPts val="400"/>
              </a:spcAft>
              <a:buNone/>
            </a:pPr>
            <a:r>
              <a:rPr lang="en-US" sz="1250" dirty="0">
                <a:solidFill>
                  <a:srgbClr val="8FE3C7"/>
                </a:solidFill>
                <a:latin typeface="Courier New" pitchFamily="34" charset="0"/>
                <a:ea typeface="Courier New" pitchFamily="34" charset="-122"/>
                <a:cs typeface="Courier New" pitchFamily="34" charset="-120"/>
              </a:rPr>
              <a:t>  await pool.query(sql);</a:t>
            </a:r>
            <a:endParaRPr lang="en-US" sz="1250" dirty="0"/>
          </a:p>
          <a:p>
            <a:pPr indent="0" marL="0">
              <a:lnSpc>
                <a:spcPct val="112000"/>
              </a:lnSpc>
              <a:spcAft>
                <a:spcPts val="400"/>
              </a:spcAft>
              <a:buNone/>
            </a:pPr>
            <a:endParaRPr lang="en-US" sz="1250" dirty="0"/>
          </a:p>
          <a:p>
            <a:pPr indent="0" marL="0">
              <a:lnSpc>
                <a:spcPct val="112000"/>
              </a:lnSpc>
              <a:spcAft>
                <a:spcPts val="400"/>
              </a:spcAft>
              <a:buNone/>
            </a:pPr>
            <a:r>
              <a:rPr lang="en-US" sz="1250" dirty="0">
                <a:solidFill>
                  <a:srgbClr val="8FE3C7"/>
                </a:solidFill>
                <a:latin typeface="Courier New" pitchFamily="34" charset="0"/>
                <a:ea typeface="Courier New" pitchFamily="34" charset="-122"/>
                <a:cs typeface="Courier New" pitchFamily="34" charset="-120"/>
              </a:rPr>
              <a:t>  await pool.query(</a:t>
            </a:r>
            <a:endParaRPr lang="en-US" sz="1250" dirty="0"/>
          </a:p>
          <a:p>
            <a:pPr indent="0" marL="0">
              <a:lnSpc>
                <a:spcPct val="112000"/>
              </a:lnSpc>
              <a:spcAft>
                <a:spcPts val="400"/>
              </a:spcAft>
              <a:buNone/>
            </a:pPr>
            <a:r>
              <a:rPr lang="en-US" sz="1250" dirty="0">
                <a:solidFill>
                  <a:srgbClr val="8FE3C7"/>
                </a:solidFill>
                <a:latin typeface="Courier New" pitchFamily="34" charset="0"/>
                <a:ea typeface="Courier New" pitchFamily="34" charset="-122"/>
                <a:cs typeface="Courier New" pitchFamily="34" charset="-120"/>
              </a:rPr>
              <a:t>    "INSERT INTO schema_migrations</a:t>
            </a:r>
            <a:endParaRPr lang="en-US" sz="1250" dirty="0"/>
          </a:p>
          <a:p>
            <a:pPr indent="0" marL="0">
              <a:lnSpc>
                <a:spcPct val="112000"/>
              </a:lnSpc>
              <a:spcAft>
                <a:spcPts val="400"/>
              </a:spcAft>
              <a:buNone/>
            </a:pPr>
            <a:r>
              <a:rPr lang="en-US" sz="1250" dirty="0">
                <a:solidFill>
                  <a:srgbClr val="8FE3C7"/>
                </a:solidFill>
                <a:latin typeface="Courier New" pitchFamily="34" charset="0"/>
                <a:ea typeface="Courier New" pitchFamily="34" charset="-122"/>
                <a:cs typeface="Courier New" pitchFamily="34" charset="-120"/>
              </a:rPr>
              <a:t>     (filename) VALUES ($1)", [file]</a:t>
            </a:r>
            <a:endParaRPr lang="en-US" sz="1250" dirty="0"/>
          </a:p>
          <a:p>
            <a:pPr indent="0" marL="0">
              <a:lnSpc>
                <a:spcPct val="112000"/>
              </a:lnSpc>
              <a:spcAft>
                <a:spcPts val="400"/>
              </a:spcAft>
              <a:buNone/>
            </a:pPr>
            <a:r>
              <a:rPr lang="en-US" sz="1250" dirty="0">
                <a:solidFill>
                  <a:srgbClr val="8FE3C7"/>
                </a:solidFill>
                <a:latin typeface="Courier New" pitchFamily="34" charset="0"/>
                <a:ea typeface="Courier New" pitchFamily="34" charset="-122"/>
                <a:cs typeface="Courier New" pitchFamily="34" charset="-120"/>
              </a:rPr>
              <a:t>  );</a:t>
            </a:r>
            <a:endParaRPr lang="en-US" sz="1250" dirty="0"/>
          </a:p>
          <a:p>
            <a:pPr indent="0" marL="0">
              <a:lnSpc>
                <a:spcPct val="112000"/>
              </a:lnSpc>
              <a:spcAft>
                <a:spcPts val="400"/>
              </a:spcAft>
              <a:buNone/>
            </a:pPr>
            <a:r>
              <a:rPr lang="en-US" sz="1250" dirty="0">
                <a:solidFill>
                  <a:srgbClr val="8FE3C7"/>
                </a:solidFill>
                <a:latin typeface="Courier New" pitchFamily="34" charset="0"/>
                <a:ea typeface="Courier New" pitchFamily="34" charset="-122"/>
                <a:cs typeface="Courier New" pitchFamily="34" charset="-120"/>
              </a:rPr>
              <a:t>}</a:t>
            </a:r>
            <a:endParaRPr lang="en-US" sz="1250" dirty="0"/>
          </a:p>
        </p:txBody>
      </p:sp>
      <p:sp>
        <p:nvSpPr>
          <p:cNvPr id="11" name="Shape 8"/>
          <p:cNvSpPr/>
          <p:nvPr/>
        </p:nvSpPr>
        <p:spPr>
          <a:xfrm>
            <a:off x="6355080" y="1737360"/>
            <a:ext cx="5257800" cy="4709160"/>
          </a:xfrm>
          <a:prstGeom prst="roundRect">
            <a:avLst>
              <a:gd name="adj" fmla="val 1942"/>
            </a:avLst>
          </a:prstGeom>
          <a:solidFill>
            <a:srgbClr val="FFFFFF"/>
          </a:solidFill>
          <a:ln w="12700">
            <a:solidFill>
              <a:srgbClr val="DCE6EC"/>
            </a:solidFill>
            <a:prstDash val="solid"/>
          </a:ln>
          <a:effectLst>
            <a:outerShdw sx="100000" sy="100000" kx="0" ky="0" algn="bl" rotWithShape="0" blurRad="101600" dist="25400" dir="5400000">
              <a:srgbClr val="10243E">
                <a:alpha val="10000"/>
              </a:srgbClr>
            </a:outerShdw>
          </a:effectLst>
        </p:spPr>
      </p:sp>
      <p:sp>
        <p:nvSpPr>
          <p:cNvPr id="12" name="Text 9"/>
          <p:cNvSpPr/>
          <p:nvPr/>
        </p:nvSpPr>
        <p:spPr>
          <a:xfrm>
            <a:off x="6629400" y="1965960"/>
            <a:ext cx="4709160" cy="365760"/>
          </a:xfrm>
          <a:prstGeom prst="rect">
            <a:avLst/>
          </a:prstGeom>
          <a:noFill/>
          <a:ln/>
        </p:spPr>
        <p:txBody>
          <a:bodyPr wrap="square" lIns="0" tIns="0" rIns="0" bIns="0" rtlCol="0" anchor="ctr"/>
          <a:lstStyle/>
          <a:p>
            <a:pPr indent="0" marL="0">
              <a:buNone/>
            </a:pPr>
            <a:r>
              <a:rPr lang="en-US" sz="1400" b="1" dirty="0">
                <a:solidFill>
                  <a:srgbClr val="2EC4B6"/>
                </a:solidFill>
                <a:latin typeface="Cambria" pitchFamily="34" charset="0"/>
                <a:ea typeface="Cambria" pitchFamily="34" charset="-122"/>
                <a:cs typeface="Cambria" pitchFamily="34" charset="-120"/>
              </a:rPr>
              <a:t>Cara Ngomonginnya</a:t>
            </a:r>
            <a:endParaRPr lang="en-US" sz="1400" dirty="0"/>
          </a:p>
        </p:txBody>
      </p:sp>
      <p:sp>
        <p:nvSpPr>
          <p:cNvPr id="13" name="Text 10"/>
          <p:cNvSpPr/>
          <p:nvPr/>
        </p:nvSpPr>
        <p:spPr>
          <a:xfrm>
            <a:off x="6629400" y="2423160"/>
            <a:ext cx="4709160" cy="3749040"/>
          </a:xfrm>
          <a:prstGeom prst="rect">
            <a:avLst/>
          </a:prstGeom>
          <a:noFill/>
          <a:ln/>
        </p:spPr>
        <p:txBody>
          <a:bodyPr wrap="square" lIns="0" tIns="0" rIns="0" bIns="0" rtlCol="0" anchor="t"/>
          <a:lstStyle/>
          <a:p>
            <a:pPr indent="0" marL="0">
              <a:lnSpc>
                <a:spcPct val="135000"/>
              </a:lnSpc>
              <a:buNone/>
            </a:pPr>
            <a:r>
              <a:rPr lang="en-US" sz="1350" i="1" dirty="0">
                <a:solidFill>
                  <a:srgbClr val="10243E"/>
                </a:solidFill>
                <a:latin typeface="Cambria" pitchFamily="34" charset="0"/>
                <a:ea typeface="Cambria" pitchFamily="34" charset="-122"/>
                <a:cs typeface="Cambria" pitchFamily="34" charset="-120"/>
              </a:rPr>
              <a:t>“Ini kayak checklist renovasi rak arsip. Tiap langkah dicatet di kertas terpisah, dinomorin. Ada 'daftar hadir' yang nyatet langkah mana yang UDAH dikerjain. Kalau ada rak arsip baru (laptop lain, server baru), tinggal jalanin SEMUA langkah dari nomor 1 — hasilnya PASTI sama, gak peduli udah berapa kali dicoba lagi.”</a:t>
            </a:r>
            <a:endParaRPr lang="en-US" sz="1350" dirty="0"/>
          </a:p>
        </p:txBody>
      </p:sp>
      <p:sp>
        <p:nvSpPr>
          <p:cNvPr id="14" name="Text 11"/>
          <p:cNvSpPr/>
          <p:nvPr/>
        </p:nvSpPr>
        <p:spPr>
          <a:xfrm>
            <a:off x="548640" y="6519672"/>
            <a:ext cx="8229600" cy="274320"/>
          </a:xfrm>
          <a:prstGeom prst="rect">
            <a:avLst/>
          </a:prstGeom>
          <a:noFill/>
          <a:ln/>
        </p:spPr>
        <p:txBody>
          <a:bodyPr wrap="square" lIns="0" tIns="0" rIns="0" bIns="0" rtlCol="0" anchor="ctr"/>
          <a:lstStyle/>
          <a:p>
            <a:pPr indent="0" marL="0">
              <a:buNone/>
            </a:pPr>
            <a:r>
              <a:rPr lang="en-US" sz="900" dirty="0">
                <a:solidFill>
                  <a:srgbClr val="5C7A99"/>
                </a:solidFill>
                <a:latin typeface="Calibri" pitchFamily="34" charset="0"/>
                <a:ea typeface="Calibri" pitchFamily="34" charset="-122"/>
                <a:cs typeface="Calibri" pitchFamily="34" charset="-120"/>
              </a:rPr>
              <a:t>db.js, Parameterized Query, Migration &amp; Seeding</a:t>
            </a:r>
            <a:endParaRPr lang="en-US" sz="900" dirty="0"/>
          </a:p>
        </p:txBody>
      </p:sp>
      <p:sp>
        <p:nvSpPr>
          <p:cNvPr id="15" name="Text 12"/>
          <p:cNvSpPr/>
          <p:nvPr/>
        </p:nvSpPr>
        <p:spPr>
          <a:xfrm>
            <a:off x="11094415" y="6519672"/>
            <a:ext cx="548640" cy="274320"/>
          </a:xfrm>
          <a:prstGeom prst="rect">
            <a:avLst/>
          </a:prstGeom>
          <a:noFill/>
          <a:ln/>
        </p:spPr>
        <p:txBody>
          <a:bodyPr wrap="square" lIns="0" tIns="0" rIns="0" bIns="0" rtlCol="0" anchor="ctr"/>
          <a:lstStyle/>
          <a:p>
            <a:pPr algn="r" indent="0" marL="0">
              <a:buNone/>
            </a:pPr>
            <a:r>
              <a:rPr lang="en-US" sz="900" dirty="0">
                <a:solidFill>
                  <a:srgbClr val="5C7A9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EC4B6"/>
                </a:solidFill>
                <a:latin typeface="Calibri" pitchFamily="34" charset="0"/>
                <a:ea typeface="Calibri" pitchFamily="34" charset="-122"/>
                <a:cs typeface="Calibri" pitchFamily="34" charset="-120"/>
              </a:rPr>
              <a:t>04 · SEEDING</a:t>
            </a:r>
            <a:endParaRPr lang="en-US" sz="1300" dirty="0"/>
          </a:p>
        </p:txBody>
      </p:sp>
      <p:sp>
        <p:nvSpPr>
          <p:cNvPr id="3" name="Text 1"/>
          <p:cNvSpPr/>
          <p:nvPr/>
        </p:nvSpPr>
        <p:spPr>
          <a:xfrm>
            <a:off x="548640" y="713232"/>
            <a:ext cx="10180015" cy="822960"/>
          </a:xfrm>
          <a:prstGeom prst="rect">
            <a:avLst/>
          </a:prstGeom>
          <a:noFill/>
          <a:ln/>
        </p:spPr>
        <p:txBody>
          <a:bodyPr wrap="square" lIns="0" tIns="0" rIns="0" bIns="0" rtlCol="0" anchor="ctr"/>
          <a:lstStyle/>
          <a:p>
            <a:pPr indent="0" marL="0">
              <a:buNone/>
            </a:pPr>
            <a:r>
              <a:rPr lang="en-US" sz="3000" b="1" dirty="0">
                <a:solidFill>
                  <a:srgbClr val="10243E"/>
                </a:solidFill>
                <a:latin typeface="Cambria" pitchFamily="34" charset="0"/>
                <a:ea typeface="Cambria" pitchFamily="34" charset="-122"/>
                <a:cs typeface="Cambria" pitchFamily="34" charset="-120"/>
              </a:rPr>
              <a:t>Seeding — Data Contoh buat Development</a:t>
            </a:r>
            <a:endParaRPr lang="en-US" sz="3000" dirty="0"/>
          </a:p>
        </p:txBody>
      </p:sp>
      <p:sp>
        <p:nvSpPr>
          <p:cNvPr id="4" name="Shape 2"/>
          <p:cNvSpPr/>
          <p:nvPr/>
        </p:nvSpPr>
        <p:spPr>
          <a:xfrm>
            <a:off x="10865815" y="658368"/>
            <a:ext cx="777240" cy="777240"/>
          </a:xfrm>
          <a:prstGeom prst="ellipse">
            <a:avLst/>
          </a:prstGeom>
          <a:solidFill>
            <a:srgbClr val="E3F7F4"/>
          </a:solidFill>
          <a:ln/>
        </p:spPr>
      </p:sp>
      <p:pic>
        <p:nvPicPr>
          <p:cNvPr id="5" name="Image 0" descr="preencoded.png">    </p:cNvPr>
          <p:cNvPicPr>
            <a:picLocks noChangeAspect="1"/>
          </p:cNvPicPr>
          <p:nvPr/>
        </p:nvPicPr>
        <p:blipFill>
          <a:blip r:embed="rId1"/>
          <a:stretch>
            <a:fillRect/>
          </a:stretch>
        </p:blipFill>
        <p:spPr>
          <a:xfrm>
            <a:off x="11052353" y="844906"/>
            <a:ext cx="404165" cy="404165"/>
          </a:xfrm>
          <a:prstGeom prst="rect">
            <a:avLst/>
          </a:prstGeom>
        </p:spPr>
      </p:pic>
      <p:sp>
        <p:nvSpPr>
          <p:cNvPr id="6" name="Shape 3"/>
          <p:cNvSpPr/>
          <p:nvPr/>
        </p:nvSpPr>
        <p:spPr>
          <a:xfrm>
            <a:off x="548640" y="1737360"/>
            <a:ext cx="5623560" cy="4206240"/>
          </a:xfrm>
          <a:prstGeom prst="roundRect">
            <a:avLst>
              <a:gd name="adj" fmla="val 1957"/>
            </a:avLst>
          </a:prstGeom>
          <a:solidFill>
            <a:srgbClr val="0B1929"/>
          </a:solidFill>
          <a:ln/>
          <a:effectLst>
            <a:outerShdw sx="100000" sy="100000" kx="0" ky="0" algn="bl" rotWithShape="0" blurRad="127000" dist="38100" dir="5400000">
              <a:srgbClr val="0B1929">
                <a:alpha val="35000"/>
              </a:srgbClr>
            </a:outerShdw>
          </a:effectLst>
        </p:spPr>
      </p:sp>
      <p:sp>
        <p:nvSpPr>
          <p:cNvPr id="7" name="Shape 4"/>
          <p:cNvSpPr/>
          <p:nvPr/>
        </p:nvSpPr>
        <p:spPr>
          <a:xfrm>
            <a:off x="713232" y="1883664"/>
            <a:ext cx="100584" cy="100584"/>
          </a:xfrm>
          <a:prstGeom prst="ellipse">
            <a:avLst/>
          </a:prstGeom>
          <a:solidFill>
            <a:srgbClr val="E8626B"/>
          </a:solidFill>
          <a:ln/>
        </p:spPr>
      </p:sp>
      <p:sp>
        <p:nvSpPr>
          <p:cNvPr id="8" name="Shape 5"/>
          <p:cNvSpPr/>
          <p:nvPr/>
        </p:nvSpPr>
        <p:spPr>
          <a:xfrm>
            <a:off x="877824" y="1883664"/>
            <a:ext cx="100584" cy="100584"/>
          </a:xfrm>
          <a:prstGeom prst="ellipse">
            <a:avLst/>
          </a:prstGeom>
          <a:solidFill>
            <a:srgbClr val="F2C14E"/>
          </a:solidFill>
          <a:ln/>
        </p:spPr>
      </p:sp>
      <p:sp>
        <p:nvSpPr>
          <p:cNvPr id="9" name="Shape 6"/>
          <p:cNvSpPr/>
          <p:nvPr/>
        </p:nvSpPr>
        <p:spPr>
          <a:xfrm>
            <a:off x="1042416" y="1883664"/>
            <a:ext cx="100584" cy="100584"/>
          </a:xfrm>
          <a:prstGeom prst="ellipse">
            <a:avLst/>
          </a:prstGeom>
          <a:solidFill>
            <a:srgbClr val="5FD07C"/>
          </a:solidFill>
          <a:ln/>
        </p:spPr>
      </p:sp>
      <p:sp>
        <p:nvSpPr>
          <p:cNvPr id="10" name="Text 7"/>
          <p:cNvSpPr/>
          <p:nvPr/>
        </p:nvSpPr>
        <p:spPr>
          <a:xfrm>
            <a:off x="804672" y="2121408"/>
            <a:ext cx="5111496" cy="3657600"/>
          </a:xfrm>
          <a:prstGeom prst="rect">
            <a:avLst/>
          </a:prstGeom>
          <a:noFill/>
          <a:ln/>
        </p:spPr>
        <p:txBody>
          <a:bodyPr wrap="square" lIns="0" tIns="0" rIns="0" bIns="0" rtlCol="0" anchor="t"/>
          <a:lstStyle/>
          <a:p>
            <a:pPr indent="0" marL="0">
              <a:lnSpc>
                <a:spcPct val="112000"/>
              </a:lnSpc>
              <a:spcAft>
                <a:spcPts val="400"/>
              </a:spcAft>
              <a:buNone/>
            </a:pPr>
            <a:r>
              <a:rPr lang="en-US" sz="1200" dirty="0">
                <a:solidFill>
                  <a:srgbClr val="8FE3C7"/>
                </a:solidFill>
                <a:latin typeface="Courier New" pitchFamily="34" charset="0"/>
                <a:ea typeface="Courier New" pitchFamily="34" charset="-122"/>
                <a:cs typeface="Courier New" pitchFamily="34" charset="-120"/>
              </a:rPr>
              <a:t>async function seed() {</a:t>
            </a:r>
            <a:endParaRPr lang="en-US" sz="1200" dirty="0"/>
          </a:p>
          <a:p>
            <a:pPr indent="0" marL="0">
              <a:lnSpc>
                <a:spcPct val="112000"/>
              </a:lnSpc>
              <a:spcAft>
                <a:spcPts val="400"/>
              </a:spcAft>
              <a:buNone/>
            </a:pPr>
            <a:r>
              <a:rPr lang="en-US" sz="1200" dirty="0">
                <a:solidFill>
                  <a:srgbClr val="8FE3C7"/>
                </a:solidFill>
                <a:latin typeface="Courier New" pitchFamily="34" charset="0"/>
                <a:ea typeface="Courier New" pitchFamily="34" charset="-122"/>
                <a:cs typeface="Courier New" pitchFamily="34" charset="-120"/>
              </a:rPr>
              <a:t>  await pool.query("DELETE FROM buku");</a:t>
            </a:r>
            <a:endParaRPr lang="en-US" sz="1200" dirty="0"/>
          </a:p>
          <a:p>
            <a:pPr indent="0" marL="0">
              <a:lnSpc>
                <a:spcPct val="112000"/>
              </a:lnSpc>
              <a:spcAft>
                <a:spcPts val="400"/>
              </a:spcAft>
              <a:buNone/>
            </a:pPr>
            <a:endParaRPr lang="en-US" sz="1200" dirty="0"/>
          </a:p>
          <a:p>
            <a:pPr indent="0" marL="0">
              <a:lnSpc>
                <a:spcPct val="112000"/>
              </a:lnSpc>
              <a:spcAft>
                <a:spcPts val="400"/>
              </a:spcAft>
              <a:buNone/>
            </a:pPr>
            <a:r>
              <a:rPr lang="en-US" sz="1200" dirty="0">
                <a:solidFill>
                  <a:srgbClr val="8FE3C7"/>
                </a:solidFill>
                <a:latin typeface="Courier New" pitchFamily="34" charset="0"/>
                <a:ea typeface="Courier New" pitchFamily="34" charset="-122"/>
                <a:cs typeface="Courier New" pitchFamily="34" charset="-120"/>
              </a:rPr>
              <a:t>  for (const buku of daftarBuku) {</a:t>
            </a:r>
            <a:endParaRPr lang="en-US" sz="1200" dirty="0"/>
          </a:p>
          <a:p>
            <a:pPr indent="0" marL="0">
              <a:lnSpc>
                <a:spcPct val="112000"/>
              </a:lnSpc>
              <a:spcAft>
                <a:spcPts val="400"/>
              </a:spcAft>
              <a:buNone/>
            </a:pPr>
            <a:r>
              <a:rPr lang="en-US" sz="1200" dirty="0">
                <a:solidFill>
                  <a:srgbClr val="8FE3C7"/>
                </a:solidFill>
                <a:latin typeface="Courier New" pitchFamily="34" charset="0"/>
                <a:ea typeface="Courier New" pitchFamily="34" charset="-122"/>
                <a:cs typeface="Courier New" pitchFamily="34" charset="-120"/>
              </a:rPr>
              <a:t>    await pool.query(</a:t>
            </a:r>
            <a:endParaRPr lang="en-US" sz="1200" dirty="0"/>
          </a:p>
          <a:p>
            <a:pPr indent="0" marL="0">
              <a:lnSpc>
                <a:spcPct val="112000"/>
              </a:lnSpc>
              <a:spcAft>
                <a:spcPts val="400"/>
              </a:spcAft>
              <a:buNone/>
            </a:pPr>
            <a:r>
              <a:rPr lang="en-US" sz="1200" dirty="0">
                <a:solidFill>
                  <a:srgbClr val="8FE3C7"/>
                </a:solidFill>
                <a:latin typeface="Courier New" pitchFamily="34" charset="0"/>
                <a:ea typeface="Courier New" pitchFamily="34" charset="-122"/>
                <a:cs typeface="Courier New" pitchFamily="34" charset="-120"/>
              </a:rPr>
              <a:t>      "INSERT INTO buku (judul, penulis)</a:t>
            </a:r>
            <a:endParaRPr lang="en-US" sz="1200" dirty="0"/>
          </a:p>
          <a:p>
            <a:pPr indent="0" marL="0">
              <a:lnSpc>
                <a:spcPct val="112000"/>
              </a:lnSpc>
              <a:spcAft>
                <a:spcPts val="400"/>
              </a:spcAft>
              <a:buNone/>
            </a:pPr>
            <a:r>
              <a:rPr lang="en-US" sz="1200" dirty="0">
                <a:solidFill>
                  <a:srgbClr val="8FE3C7"/>
                </a:solidFill>
                <a:latin typeface="Courier New" pitchFamily="34" charset="0"/>
                <a:ea typeface="Courier New" pitchFamily="34" charset="-122"/>
                <a:cs typeface="Courier New" pitchFamily="34" charset="-120"/>
              </a:rPr>
              <a:t>        VALUES ($1, $2)",</a:t>
            </a:r>
            <a:endParaRPr lang="en-US" sz="1200" dirty="0"/>
          </a:p>
          <a:p>
            <a:pPr indent="0" marL="0">
              <a:lnSpc>
                <a:spcPct val="112000"/>
              </a:lnSpc>
              <a:spcAft>
                <a:spcPts val="400"/>
              </a:spcAft>
              <a:buNone/>
            </a:pPr>
            <a:r>
              <a:rPr lang="en-US" sz="1200" dirty="0">
                <a:solidFill>
                  <a:srgbClr val="8FE3C7"/>
                </a:solidFill>
                <a:latin typeface="Courier New" pitchFamily="34" charset="0"/>
                <a:ea typeface="Courier New" pitchFamily="34" charset="-122"/>
                <a:cs typeface="Courier New" pitchFamily="34" charset="-120"/>
              </a:rPr>
              <a:t>      [buku.judul, buku.penulis]</a:t>
            </a:r>
            <a:endParaRPr lang="en-US" sz="1200" dirty="0"/>
          </a:p>
          <a:p>
            <a:pPr indent="0" marL="0">
              <a:lnSpc>
                <a:spcPct val="112000"/>
              </a:lnSpc>
              <a:spcAft>
                <a:spcPts val="400"/>
              </a:spcAft>
              <a:buNone/>
            </a:pPr>
            <a:r>
              <a:rPr lang="en-US" sz="1200" dirty="0">
                <a:solidFill>
                  <a:srgbClr val="8FE3C7"/>
                </a:solidFill>
                <a:latin typeface="Courier New" pitchFamily="34" charset="0"/>
                <a:ea typeface="Courier New" pitchFamily="34" charset="-122"/>
                <a:cs typeface="Courier New" pitchFamily="34" charset="-120"/>
              </a:rPr>
              <a:t>    );</a:t>
            </a:r>
            <a:endParaRPr lang="en-US" sz="1200" dirty="0"/>
          </a:p>
          <a:p>
            <a:pPr indent="0" marL="0">
              <a:lnSpc>
                <a:spcPct val="112000"/>
              </a:lnSpc>
              <a:spcAft>
                <a:spcPts val="400"/>
              </a:spcAft>
              <a:buNone/>
            </a:pPr>
            <a:r>
              <a:rPr lang="en-US" sz="1200" dirty="0">
                <a:solidFill>
                  <a:srgbClr val="8FE3C7"/>
                </a:solidFill>
                <a:latin typeface="Courier New" pitchFamily="34" charset="0"/>
                <a:ea typeface="Courier New" pitchFamily="34" charset="-122"/>
                <a:cs typeface="Courier New" pitchFamily="34" charset="-120"/>
              </a:rPr>
              <a:t>  }</a:t>
            </a:r>
            <a:endParaRPr lang="en-US" sz="1200" dirty="0"/>
          </a:p>
          <a:p>
            <a:pPr indent="0" marL="0">
              <a:lnSpc>
                <a:spcPct val="112000"/>
              </a:lnSpc>
              <a:spcAft>
                <a:spcPts val="400"/>
              </a:spcAft>
              <a:buNone/>
            </a:pPr>
            <a:r>
              <a:rPr lang="en-US" sz="1200" dirty="0">
                <a:solidFill>
                  <a:srgbClr val="8FE3C7"/>
                </a:solidFill>
                <a:latin typeface="Courier New" pitchFamily="34" charset="0"/>
                <a:ea typeface="Courier New" pitchFamily="34" charset="-122"/>
                <a:cs typeface="Courier New" pitchFamily="34" charset="-120"/>
              </a:rPr>
              <a:t>}</a:t>
            </a:r>
            <a:endParaRPr lang="en-US" sz="1200" dirty="0"/>
          </a:p>
        </p:txBody>
      </p:sp>
      <p:sp>
        <p:nvSpPr>
          <p:cNvPr id="11" name="Shape 8"/>
          <p:cNvSpPr/>
          <p:nvPr/>
        </p:nvSpPr>
        <p:spPr>
          <a:xfrm>
            <a:off x="6355080" y="1737360"/>
            <a:ext cx="5257800" cy="2148840"/>
          </a:xfrm>
          <a:prstGeom prst="roundRect">
            <a:avLst>
              <a:gd name="adj" fmla="val 4255"/>
            </a:avLst>
          </a:prstGeom>
          <a:solidFill>
            <a:srgbClr val="FFFFFF"/>
          </a:solidFill>
          <a:ln w="12700">
            <a:solidFill>
              <a:srgbClr val="DCE6EC"/>
            </a:solidFill>
            <a:prstDash val="solid"/>
          </a:ln>
          <a:effectLst>
            <a:outerShdw sx="100000" sy="100000" kx="0" ky="0" algn="bl" rotWithShape="0" blurRad="101600" dist="25400" dir="5400000">
              <a:srgbClr val="10243E">
                <a:alpha val="10000"/>
              </a:srgbClr>
            </a:outerShdw>
          </a:effectLst>
        </p:spPr>
      </p:sp>
      <p:sp>
        <p:nvSpPr>
          <p:cNvPr id="12" name="Text 9"/>
          <p:cNvSpPr/>
          <p:nvPr/>
        </p:nvSpPr>
        <p:spPr>
          <a:xfrm>
            <a:off x="6629400" y="1965960"/>
            <a:ext cx="4709160" cy="365760"/>
          </a:xfrm>
          <a:prstGeom prst="rect">
            <a:avLst/>
          </a:prstGeom>
          <a:noFill/>
          <a:ln/>
        </p:spPr>
        <p:txBody>
          <a:bodyPr wrap="square" lIns="0" tIns="0" rIns="0" bIns="0" rtlCol="0" anchor="ctr"/>
          <a:lstStyle/>
          <a:p>
            <a:pPr indent="0" marL="0">
              <a:buNone/>
            </a:pPr>
            <a:r>
              <a:rPr lang="en-US" sz="1400" b="1" dirty="0">
                <a:solidFill>
                  <a:srgbClr val="2EC4B6"/>
                </a:solidFill>
                <a:latin typeface="Cambria" pitchFamily="34" charset="0"/>
                <a:ea typeface="Cambria" pitchFamily="34" charset="-122"/>
                <a:cs typeface="Cambria" pitchFamily="34" charset="-120"/>
              </a:rPr>
              <a:t>Cara Ngomonginnya</a:t>
            </a:r>
            <a:endParaRPr lang="en-US" sz="1400" dirty="0"/>
          </a:p>
        </p:txBody>
      </p:sp>
      <p:sp>
        <p:nvSpPr>
          <p:cNvPr id="13" name="Text 10"/>
          <p:cNvSpPr/>
          <p:nvPr/>
        </p:nvSpPr>
        <p:spPr>
          <a:xfrm>
            <a:off x="6629400" y="2377440"/>
            <a:ext cx="4709160" cy="1417320"/>
          </a:xfrm>
          <a:prstGeom prst="rect">
            <a:avLst/>
          </a:prstGeom>
          <a:noFill/>
          <a:ln/>
        </p:spPr>
        <p:txBody>
          <a:bodyPr wrap="square" lIns="0" tIns="0" rIns="0" bIns="0" rtlCol="0" anchor="t"/>
          <a:lstStyle/>
          <a:p>
            <a:pPr indent="0" marL="0">
              <a:lnSpc>
                <a:spcPct val="130000"/>
              </a:lnSpc>
              <a:buNone/>
            </a:pPr>
            <a:r>
              <a:rPr lang="en-US" sz="1300" i="1" dirty="0">
                <a:solidFill>
                  <a:srgbClr val="10243E"/>
                </a:solidFill>
                <a:latin typeface="Cambria" pitchFamily="34" charset="0"/>
                <a:ea typeface="Cambria" pitchFamily="34" charset="-122"/>
                <a:cs typeface="Cambria" pitchFamily="34" charset="-120"/>
              </a:rPr>
              <a:t>“Migration itu bikin rak KOSONG yang strukturnya bener. Seed itu isi rak itu sama barang CONTOH buat latihan. Makanya seed SELALU hapus dulu isinya sebelum isi ulang — biar gak numpuk.”</a:t>
            </a:r>
            <a:endParaRPr lang="en-US" sz="1300" dirty="0"/>
          </a:p>
        </p:txBody>
      </p:sp>
      <p:sp>
        <p:nvSpPr>
          <p:cNvPr id="14" name="Shape 11"/>
          <p:cNvSpPr/>
          <p:nvPr/>
        </p:nvSpPr>
        <p:spPr>
          <a:xfrm>
            <a:off x="6355080" y="4069080"/>
            <a:ext cx="5257800" cy="2377440"/>
          </a:xfrm>
          <a:prstGeom prst="roundRect">
            <a:avLst>
              <a:gd name="adj" fmla="val 3846"/>
            </a:avLst>
          </a:prstGeom>
          <a:solidFill>
            <a:srgbClr val="E3F7F4"/>
          </a:solidFill>
          <a:ln/>
        </p:spPr>
      </p:sp>
      <p:sp>
        <p:nvSpPr>
          <p:cNvPr id="15" name="Shape 12"/>
          <p:cNvSpPr/>
          <p:nvPr/>
        </p:nvSpPr>
        <p:spPr>
          <a:xfrm>
            <a:off x="6629400" y="4297680"/>
            <a:ext cx="502920" cy="502920"/>
          </a:xfrm>
          <a:prstGeom prst="ellipse">
            <a:avLst/>
          </a:prstGeom>
          <a:solidFill>
            <a:srgbClr val="FFFFFF"/>
          </a:solidFill>
          <a:ln/>
        </p:spPr>
      </p:sp>
      <p:pic>
        <p:nvPicPr>
          <p:cNvPr id="16" name="Image 1" descr="preencoded.png">    </p:cNvPr>
          <p:cNvPicPr>
            <a:picLocks noChangeAspect="1"/>
          </p:cNvPicPr>
          <p:nvPr/>
        </p:nvPicPr>
        <p:blipFill>
          <a:blip r:embed="rId2"/>
          <a:stretch>
            <a:fillRect/>
          </a:stretch>
        </p:blipFill>
        <p:spPr>
          <a:xfrm>
            <a:off x="6735013" y="4403293"/>
            <a:ext cx="291694" cy="291694"/>
          </a:xfrm>
          <a:prstGeom prst="rect">
            <a:avLst/>
          </a:prstGeom>
        </p:spPr>
      </p:pic>
      <p:sp>
        <p:nvSpPr>
          <p:cNvPr id="17" name="Text 13"/>
          <p:cNvSpPr/>
          <p:nvPr/>
        </p:nvSpPr>
        <p:spPr>
          <a:xfrm>
            <a:off x="7269480" y="4315968"/>
            <a:ext cx="4114800" cy="457200"/>
          </a:xfrm>
          <a:prstGeom prst="rect">
            <a:avLst/>
          </a:prstGeom>
          <a:noFill/>
          <a:ln/>
        </p:spPr>
        <p:txBody>
          <a:bodyPr wrap="square" lIns="0" tIns="0" rIns="0" bIns="0" rtlCol="0" anchor="ctr"/>
          <a:lstStyle/>
          <a:p>
            <a:pPr indent="0" marL="0">
              <a:buNone/>
            </a:pPr>
            <a:r>
              <a:rPr lang="en-US" sz="1450" b="1" dirty="0">
                <a:solidFill>
                  <a:srgbClr val="10243E"/>
                </a:solidFill>
                <a:latin typeface="Cambria" pitchFamily="34" charset="0"/>
                <a:ea typeface="Cambria" pitchFamily="34" charset="-122"/>
                <a:cs typeface="Cambria" pitchFamily="34" charset="-120"/>
              </a:rPr>
              <a:t>Kenapa Manual Dulu, Baru AI?</a:t>
            </a:r>
            <a:endParaRPr lang="en-US" sz="1450" dirty="0"/>
          </a:p>
        </p:txBody>
      </p:sp>
      <p:sp>
        <p:nvSpPr>
          <p:cNvPr id="18" name="Text 14"/>
          <p:cNvSpPr/>
          <p:nvPr/>
        </p:nvSpPr>
        <p:spPr>
          <a:xfrm>
            <a:off x="6629400" y="4937760"/>
            <a:ext cx="4709160" cy="1371600"/>
          </a:xfrm>
          <a:prstGeom prst="rect">
            <a:avLst/>
          </a:prstGeom>
          <a:noFill/>
          <a:ln/>
        </p:spPr>
        <p:txBody>
          <a:bodyPr wrap="square" lIns="0" tIns="0" rIns="0" bIns="0" rtlCol="0" anchor="t"/>
          <a:lstStyle/>
          <a:p>
            <a:pPr indent="0" marL="0">
              <a:lnSpc>
                <a:spcPct val="130000"/>
              </a:lnSpc>
              <a:buNone/>
            </a:pPr>
            <a:r>
              <a:rPr lang="en-US" sz="1250" dirty="0">
                <a:solidFill>
                  <a:srgbClr val="10243E"/>
                </a:solidFill>
                <a:latin typeface="Calibri" pitchFamily="34" charset="0"/>
                <a:ea typeface="Calibri" pitchFamily="34" charset="-122"/>
                <a:cs typeface="Calibri" pitchFamily="34" charset="-120"/>
              </a:rPr>
              <a:t>Nanti data seed yang lebih besar/variatif boleh di-generate pakai AI — TAPI cuma kalau kamu udah paham pola di atas. Tanpa itu, gampang lupa DELETE dulu (data numpuk terus), atau gak sadar query-nya rawan SQL Injection.</a:t>
            </a:r>
            <a:endParaRPr lang="en-US" sz="1250" dirty="0"/>
          </a:p>
        </p:txBody>
      </p:sp>
      <p:sp>
        <p:nvSpPr>
          <p:cNvPr id="19" name="Text 15"/>
          <p:cNvSpPr/>
          <p:nvPr/>
        </p:nvSpPr>
        <p:spPr>
          <a:xfrm>
            <a:off x="548640" y="6519672"/>
            <a:ext cx="8229600" cy="274320"/>
          </a:xfrm>
          <a:prstGeom prst="rect">
            <a:avLst/>
          </a:prstGeom>
          <a:noFill/>
          <a:ln/>
        </p:spPr>
        <p:txBody>
          <a:bodyPr wrap="square" lIns="0" tIns="0" rIns="0" bIns="0" rtlCol="0" anchor="ctr"/>
          <a:lstStyle/>
          <a:p>
            <a:pPr indent="0" marL="0">
              <a:buNone/>
            </a:pPr>
            <a:r>
              <a:rPr lang="en-US" sz="900" dirty="0">
                <a:solidFill>
                  <a:srgbClr val="5C7A99"/>
                </a:solidFill>
                <a:latin typeface="Calibri" pitchFamily="34" charset="0"/>
                <a:ea typeface="Calibri" pitchFamily="34" charset="-122"/>
                <a:cs typeface="Calibri" pitchFamily="34" charset="-120"/>
              </a:rPr>
              <a:t>db.js, Parameterized Query, Migration &amp; Seeding</a:t>
            </a:r>
            <a:endParaRPr lang="en-US" sz="900" dirty="0"/>
          </a:p>
        </p:txBody>
      </p:sp>
      <p:sp>
        <p:nvSpPr>
          <p:cNvPr id="20" name="Text 16"/>
          <p:cNvSpPr/>
          <p:nvPr/>
        </p:nvSpPr>
        <p:spPr>
          <a:xfrm>
            <a:off x="11094415" y="6519672"/>
            <a:ext cx="548640" cy="274320"/>
          </a:xfrm>
          <a:prstGeom prst="rect">
            <a:avLst/>
          </a:prstGeom>
          <a:noFill/>
          <a:ln/>
        </p:spPr>
        <p:txBody>
          <a:bodyPr wrap="square" lIns="0" tIns="0" rIns="0" bIns="0" rtlCol="0" anchor="ctr"/>
          <a:lstStyle/>
          <a:p>
            <a:pPr algn="r" indent="0" marL="0">
              <a:buNone/>
            </a:pPr>
            <a:r>
              <a:rPr lang="en-US" sz="900" dirty="0">
                <a:solidFill>
                  <a:srgbClr val="5C7A9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EC4B6"/>
                </a:solidFill>
                <a:latin typeface="Calibri" pitchFamily="34" charset="0"/>
                <a:ea typeface="Calibri" pitchFamily="34" charset="-122"/>
                <a:cs typeface="Calibri" pitchFamily="34" charset="-120"/>
              </a:rPr>
              <a:t>05 · RINGKASAN</a:t>
            </a:r>
            <a:endParaRPr lang="en-US" sz="1300" dirty="0"/>
          </a:p>
        </p:txBody>
      </p:sp>
      <p:sp>
        <p:nvSpPr>
          <p:cNvPr id="3" name="Text 1"/>
          <p:cNvSpPr/>
          <p:nvPr/>
        </p:nvSpPr>
        <p:spPr>
          <a:xfrm>
            <a:off x="548640" y="713232"/>
            <a:ext cx="10180015" cy="822960"/>
          </a:xfrm>
          <a:prstGeom prst="rect">
            <a:avLst/>
          </a:prstGeom>
          <a:noFill/>
          <a:ln/>
        </p:spPr>
        <p:txBody>
          <a:bodyPr wrap="square" lIns="0" tIns="0" rIns="0" bIns="0" rtlCol="0" anchor="ctr"/>
          <a:lstStyle/>
          <a:p>
            <a:pPr indent="0" marL="0">
              <a:buNone/>
            </a:pPr>
            <a:r>
              <a:rPr lang="en-US" sz="3000" b="1" dirty="0">
                <a:solidFill>
                  <a:srgbClr val="10243E"/>
                </a:solidFill>
                <a:latin typeface="Cambria" pitchFamily="34" charset="0"/>
                <a:ea typeface="Cambria" pitchFamily="34" charset="-122"/>
                <a:cs typeface="Cambria" pitchFamily="34" charset="-120"/>
              </a:rPr>
              <a:t>Istilah yang Sudah Dikuasai</a:t>
            </a:r>
            <a:endParaRPr lang="en-US" sz="3000" dirty="0"/>
          </a:p>
        </p:txBody>
      </p:sp>
      <p:sp>
        <p:nvSpPr>
          <p:cNvPr id="4" name="Shape 2"/>
          <p:cNvSpPr/>
          <p:nvPr/>
        </p:nvSpPr>
        <p:spPr>
          <a:xfrm>
            <a:off x="548640" y="1691640"/>
            <a:ext cx="11094415" cy="3877056"/>
          </a:xfrm>
          <a:prstGeom prst="roundRect">
            <a:avLst>
              <a:gd name="adj" fmla="val 1887"/>
            </a:avLst>
          </a:prstGeom>
          <a:solidFill>
            <a:srgbClr val="FFFFFF"/>
          </a:solidFill>
          <a:ln w="12700">
            <a:solidFill>
              <a:srgbClr val="DCE6EC"/>
            </a:solidFill>
            <a:prstDash val="solid"/>
          </a:ln>
          <a:effectLst>
            <a:outerShdw sx="100000" sy="100000" kx="0" ky="0" algn="bl" rotWithShape="0" blurRad="101600" dist="25400" dir="5400000">
              <a:srgbClr val="10243E">
                <a:alpha val="10000"/>
              </a:srgbClr>
            </a:outerShdw>
          </a:effectLst>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3291840"/>
                <a:gridCol w="7765999"/>
              </a:tblGrid>
              <a:tr h="48463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Istilah</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10243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Artinya</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10243E"/>
                    </a:solidFill>
                  </a:tcPr>
                </a:tc>
              </a:tr>
              <a:tr h="484632">
                <a:tc>
                  <a:txBody>
                    <a:bodyPr/>
                    <a:lstStyle/>
                    <a:p>
                      <a:pPr indent="0" marL="0">
                        <a:buNone/>
                      </a:pPr>
                      <a:r>
                        <a:rPr lang="en-US" sz="1150" b="1" dirty="0">
                          <a:solidFill>
                            <a:srgbClr val="10243E"/>
                          </a:solidFill>
                          <a:latin typeface="Courier New" pitchFamily="34" charset="0"/>
                          <a:ea typeface="Courier New" pitchFamily="34" charset="-122"/>
                          <a:cs typeface="Courier New" pitchFamily="34" charset="-120"/>
                        </a:rPr>
                        <a:t>Pool</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c>
                  <a:txBody>
                    <a:bodyPr/>
                    <a:lstStyle/>
                    <a:p>
                      <a:pPr indent="0" marL="0">
                        <a:buNone/>
                      </a:pPr>
                      <a:r>
                        <a:rPr lang="en-US" sz="1200" dirty="0">
                          <a:solidFill>
                            <a:srgbClr val="10243E"/>
                          </a:solidFill>
                          <a:latin typeface="Calibri" pitchFamily="34" charset="0"/>
                          <a:ea typeface="Calibri" pitchFamily="34" charset="-122"/>
                          <a:cs typeface="Calibri" pitchFamily="34" charset="-120"/>
                        </a:rPr>
                        <a:t>Kolam koneksi database, dipinjem-pakai otomatis (bukan connect satu-satu)</a:t>
                      </a:r>
                      <a:endParaRPr lang="en-US" sz="120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r>
              <a:tr h="484632">
                <a:tc>
                  <a:txBody>
                    <a:bodyPr/>
                    <a:lstStyle/>
                    <a:p>
                      <a:pPr indent="0" marL="0">
                        <a:buNone/>
                      </a:pPr>
                      <a:r>
                        <a:rPr lang="en-US" sz="1150" b="1" dirty="0">
                          <a:solidFill>
                            <a:srgbClr val="10243E"/>
                          </a:solidFill>
                          <a:latin typeface="Courier New" pitchFamily="34" charset="0"/>
                          <a:ea typeface="Courier New" pitchFamily="34" charset="-122"/>
                          <a:cs typeface="Courier New" pitchFamily="34" charset="-120"/>
                        </a:rPr>
                        <a:t>pool.query(text, params)</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c>
                  <a:txBody>
                    <a:bodyPr/>
                    <a:lstStyle/>
                    <a:p>
                      <a:pPr indent="0" marL="0">
                        <a:buNone/>
                      </a:pPr>
                      <a:r>
                        <a:rPr lang="en-US" sz="1200" dirty="0">
                          <a:solidFill>
                            <a:srgbClr val="10243E"/>
                          </a:solidFill>
                          <a:latin typeface="Calibri" pitchFamily="34" charset="0"/>
                          <a:ea typeface="Calibri" pitchFamily="34" charset="-122"/>
                          <a:cs typeface="Calibri" pitchFamily="34" charset="-120"/>
                        </a:rPr>
                        <a:t>Cara kode JS ngirim SQL ke database</a:t>
                      </a:r>
                      <a:endParaRPr lang="en-US" sz="120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r>
              <a:tr h="484632">
                <a:tc>
                  <a:txBody>
                    <a:bodyPr/>
                    <a:lstStyle/>
                    <a:p>
                      <a:pPr indent="0" marL="0">
                        <a:buNone/>
                      </a:pPr>
                      <a:r>
                        <a:rPr lang="en-US" sz="1150" b="1" dirty="0">
                          <a:solidFill>
                            <a:srgbClr val="10243E"/>
                          </a:solidFill>
                          <a:latin typeface="Courier New" pitchFamily="34" charset="0"/>
                          <a:ea typeface="Courier New" pitchFamily="34" charset="-122"/>
                          <a:cs typeface="Courier New" pitchFamily="34" charset="-120"/>
                        </a:rPr>
                        <a:t>Parameterized query ($1, $2)</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c>
                  <a:txBody>
                    <a:bodyPr/>
                    <a:lstStyle/>
                    <a:p>
                      <a:pPr indent="0" marL="0">
                        <a:buNone/>
                      </a:pPr>
                      <a:r>
                        <a:rPr lang="en-US" sz="1200" dirty="0">
                          <a:solidFill>
                            <a:srgbClr val="10243E"/>
                          </a:solidFill>
                          <a:latin typeface="Calibri" pitchFamily="34" charset="0"/>
                          <a:ea typeface="Calibri" pitchFamily="34" charset="-122"/>
                          <a:cs typeface="Calibri" pitchFamily="34" charset="-120"/>
                        </a:rPr>
                        <a:t>Cara AMAN masukin nilai dari luar ke query — cegah SQL Injection</a:t>
                      </a:r>
                      <a:endParaRPr lang="en-US" sz="120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r>
              <a:tr h="484632">
                <a:tc>
                  <a:txBody>
                    <a:bodyPr/>
                    <a:lstStyle/>
                    <a:p>
                      <a:pPr indent="0" marL="0">
                        <a:buNone/>
                      </a:pPr>
                      <a:r>
                        <a:rPr lang="en-US" sz="1150" b="1" dirty="0">
                          <a:solidFill>
                            <a:srgbClr val="10243E"/>
                          </a:solidFill>
                          <a:latin typeface="Courier New" pitchFamily="34" charset="0"/>
                          <a:ea typeface="Courier New" pitchFamily="34" charset="-122"/>
                          <a:cs typeface="Courier New" pitchFamily="34" charset="-120"/>
                        </a:rPr>
                        <a:t>Migration</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c>
                  <a:txBody>
                    <a:bodyPr/>
                    <a:lstStyle/>
                    <a:p>
                      <a:pPr indent="0" marL="0">
                        <a:buNone/>
                      </a:pPr>
                      <a:r>
                        <a:rPr lang="en-US" sz="1200" dirty="0">
                          <a:solidFill>
                            <a:srgbClr val="10243E"/>
                          </a:solidFill>
                          <a:latin typeface="Calibri" pitchFamily="34" charset="0"/>
                          <a:ea typeface="Calibri" pitchFamily="34" charset="-122"/>
                          <a:cs typeface="Calibri" pitchFamily="34" charset="-120"/>
                        </a:rPr>
                        <a:t>File SQL bernomor yang nyatet SATU perubahan struktur database</a:t>
                      </a:r>
                      <a:endParaRPr lang="en-US" sz="120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r>
              <a:tr h="484632">
                <a:tc>
                  <a:txBody>
                    <a:bodyPr/>
                    <a:lstStyle/>
                    <a:p>
                      <a:pPr indent="0" marL="0">
                        <a:buNone/>
                      </a:pPr>
                      <a:r>
                        <a:rPr lang="en-US" sz="1150" b="1" dirty="0">
                          <a:solidFill>
                            <a:srgbClr val="10243E"/>
                          </a:solidFill>
                          <a:latin typeface="Courier New" pitchFamily="34" charset="0"/>
                          <a:ea typeface="Courier New" pitchFamily="34" charset="-122"/>
                          <a:cs typeface="Courier New" pitchFamily="34" charset="-120"/>
                        </a:rPr>
                        <a:t>schema_migrations</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c>
                  <a:txBody>
                    <a:bodyPr/>
                    <a:lstStyle/>
                    <a:p>
                      <a:pPr indent="0" marL="0">
                        <a:buNone/>
                      </a:pPr>
                      <a:r>
                        <a:rPr lang="en-US" sz="1200" dirty="0">
                          <a:solidFill>
                            <a:srgbClr val="10243E"/>
                          </a:solidFill>
                          <a:latin typeface="Calibri" pitchFamily="34" charset="0"/>
                          <a:ea typeface="Calibri" pitchFamily="34" charset="-122"/>
                          <a:cs typeface="Calibri" pitchFamily="34" charset="-120"/>
                        </a:rPr>
                        <a:t>Tabel “daftar hadir” — nyatet migration mana yang udah pernah jalan</a:t>
                      </a:r>
                      <a:endParaRPr lang="en-US" sz="120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r>
              <a:tr h="484632">
                <a:tc>
                  <a:txBody>
                    <a:bodyPr/>
                    <a:lstStyle/>
                    <a:p>
                      <a:pPr indent="0" marL="0">
                        <a:buNone/>
                      </a:pPr>
                      <a:r>
                        <a:rPr lang="en-US" sz="1150" b="1" dirty="0">
                          <a:solidFill>
                            <a:srgbClr val="10243E"/>
                          </a:solidFill>
                          <a:latin typeface="Courier New" pitchFamily="34" charset="0"/>
                          <a:ea typeface="Courier New" pitchFamily="34" charset="-122"/>
                          <a:cs typeface="Courier New" pitchFamily="34" charset="-120"/>
                        </a:rPr>
                        <a:t>Seed</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c>
                  <a:txBody>
                    <a:bodyPr/>
                    <a:lstStyle/>
                    <a:p>
                      <a:pPr indent="0" marL="0">
                        <a:buNone/>
                      </a:pPr>
                      <a:r>
                        <a:rPr lang="en-US" sz="1200" dirty="0">
                          <a:solidFill>
                            <a:srgbClr val="10243E"/>
                          </a:solidFill>
                          <a:latin typeface="Calibri" pitchFamily="34" charset="0"/>
                          <a:ea typeface="Calibri" pitchFamily="34" charset="-122"/>
                          <a:cs typeface="Calibri" pitchFamily="34" charset="-120"/>
                        </a:rPr>
                        <a:t>Script yang isi tabel dengan DATA contoh — hapus dulu, baru isi ulang</a:t>
                      </a:r>
                      <a:endParaRPr lang="en-US" sz="120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r>
              <a:tr h="484632">
                <a:tc>
                  <a:txBody>
                    <a:bodyPr/>
                    <a:lstStyle/>
                    <a:p>
                      <a:pPr indent="0" marL="0">
                        <a:buNone/>
                      </a:pPr>
                      <a:r>
                        <a:rPr lang="en-US" sz="1150" b="1" dirty="0">
                          <a:solidFill>
                            <a:srgbClr val="10243E"/>
                          </a:solidFill>
                          <a:latin typeface="Courier New" pitchFamily="34" charset="0"/>
                          <a:ea typeface="Courier New" pitchFamily="34" charset="-122"/>
                          <a:cs typeface="Courier New" pitchFamily="34" charset="-120"/>
                        </a:rPr>
                        <a:t>Idempotent</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c>
                  <a:txBody>
                    <a:bodyPr/>
                    <a:lstStyle/>
                    <a:p>
                      <a:pPr indent="0" marL="0">
                        <a:buNone/>
                      </a:pPr>
                      <a:r>
                        <a:rPr lang="en-US" sz="1200" dirty="0">
                          <a:solidFill>
                            <a:srgbClr val="10243E"/>
                          </a:solidFill>
                          <a:latin typeface="Calibri" pitchFamily="34" charset="0"/>
                          <a:ea typeface="Calibri" pitchFamily="34" charset="-122"/>
                          <a:cs typeface="Calibri" pitchFamily="34" charset="-120"/>
                        </a:rPr>
                        <a:t>Dijalanin berkali-kali, hasilnya tetep sama</a:t>
                      </a:r>
                      <a:endParaRPr lang="en-US" sz="120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tcPr>
                </a:tc>
              </a:tr>
            </a:tbl>
          </a:graphicData>
        </a:graphic>
      </p:graphicFrame>
      <p:sp>
        <p:nvSpPr>
          <p:cNvPr id="6" name="Text 3"/>
          <p:cNvSpPr/>
          <p:nvPr/>
        </p:nvSpPr>
        <p:spPr>
          <a:xfrm>
            <a:off x="548640" y="6519672"/>
            <a:ext cx="8229600" cy="274320"/>
          </a:xfrm>
          <a:prstGeom prst="rect">
            <a:avLst/>
          </a:prstGeom>
          <a:noFill/>
          <a:ln/>
        </p:spPr>
        <p:txBody>
          <a:bodyPr wrap="square" lIns="0" tIns="0" rIns="0" bIns="0" rtlCol="0" anchor="ctr"/>
          <a:lstStyle/>
          <a:p>
            <a:pPr indent="0" marL="0">
              <a:buNone/>
            </a:pPr>
            <a:r>
              <a:rPr lang="en-US" sz="900" dirty="0">
                <a:solidFill>
                  <a:srgbClr val="5C7A99"/>
                </a:solidFill>
                <a:latin typeface="Calibri" pitchFamily="34" charset="0"/>
                <a:ea typeface="Calibri" pitchFamily="34" charset="-122"/>
                <a:cs typeface="Calibri" pitchFamily="34" charset="-120"/>
              </a:rPr>
              <a:t>db.js, Parameterized Query, Migration &amp; Seeding</a:t>
            </a:r>
            <a:endParaRPr lang="en-US" sz="900" dirty="0"/>
          </a:p>
        </p:txBody>
      </p:sp>
      <p:sp>
        <p:nvSpPr>
          <p:cNvPr id="7" name="Text 4"/>
          <p:cNvSpPr/>
          <p:nvPr/>
        </p:nvSpPr>
        <p:spPr>
          <a:xfrm>
            <a:off x="11094415" y="6519672"/>
            <a:ext cx="548640" cy="274320"/>
          </a:xfrm>
          <a:prstGeom prst="rect">
            <a:avLst/>
          </a:prstGeom>
          <a:noFill/>
          <a:ln/>
        </p:spPr>
        <p:txBody>
          <a:bodyPr wrap="square" lIns="0" tIns="0" rIns="0" bIns="0" rtlCol="0" anchor="ctr"/>
          <a:lstStyle/>
          <a:p>
            <a:pPr algn="r" indent="0" marL="0">
              <a:buNone/>
            </a:pPr>
            <a:r>
              <a:rPr lang="en-US" sz="900" dirty="0">
                <a:solidFill>
                  <a:srgbClr val="5C7A9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43E"/>
        </a:solidFill>
      </p:bgPr>
    </p:bg>
    <p:spTree>
      <p:nvGrpSpPr>
        <p:cNvPr id="1" name=""/>
        <p:cNvGrpSpPr/>
        <p:nvPr/>
      </p:nvGrpSpPr>
      <p:grpSpPr>
        <a:xfrm>
          <a:off x="0" y="0"/>
          <a:ext cx="0" cy="0"/>
          <a:chOff x="0" y="0"/>
          <a:chExt cx="0" cy="0"/>
        </a:xfrm>
      </p:grpSpPr>
      <p:sp>
        <p:nvSpPr>
          <p:cNvPr id="2" name="Shape 0"/>
          <p:cNvSpPr/>
          <p:nvPr/>
        </p:nvSpPr>
        <p:spPr>
          <a:xfrm>
            <a:off x="-1828800" y="3840480"/>
            <a:ext cx="4754880" cy="4754880"/>
          </a:xfrm>
          <a:prstGeom prst="ellipse">
            <a:avLst/>
          </a:prstGeom>
          <a:solidFill>
            <a:srgbClr val="17324F"/>
          </a:solidFill>
          <a:ln/>
        </p:spPr>
      </p:sp>
      <p:sp>
        <p:nvSpPr>
          <p:cNvPr id="3" name="Text 1"/>
          <p:cNvSpPr/>
          <p:nvPr/>
        </p:nvSpPr>
        <p:spPr>
          <a:xfrm>
            <a:off x="548640" y="594360"/>
            <a:ext cx="7315200" cy="365760"/>
          </a:xfrm>
          <a:prstGeom prst="rect">
            <a:avLst/>
          </a:prstGeom>
          <a:noFill/>
          <a:ln/>
        </p:spPr>
        <p:txBody>
          <a:bodyPr wrap="square" lIns="0" tIns="0" rIns="0" bIns="0" rtlCol="0" anchor="ctr"/>
          <a:lstStyle/>
          <a:p>
            <a:pPr indent="0" marL="0">
              <a:buNone/>
            </a:pPr>
            <a:r>
              <a:rPr lang="en-US" sz="1300" b="1" spc="200" kern="0" dirty="0">
                <a:solidFill>
                  <a:srgbClr val="2EC4B6"/>
                </a:solidFill>
                <a:latin typeface="Calibri" pitchFamily="34" charset="0"/>
                <a:ea typeface="Calibri" pitchFamily="34" charset="-122"/>
                <a:cs typeface="Calibri" pitchFamily="34" charset="-120"/>
              </a:rPr>
              <a:t>LANJUT KE LATIHAN</a:t>
            </a:r>
            <a:endParaRPr lang="en-US" sz="1300" dirty="0"/>
          </a:p>
        </p:txBody>
      </p:sp>
      <p:sp>
        <p:nvSpPr>
          <p:cNvPr id="4" name="Text 2"/>
          <p:cNvSpPr/>
          <p:nvPr/>
        </p:nvSpPr>
        <p:spPr>
          <a:xfrm>
            <a:off x="548640" y="96012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Cek Paham Sebelum Lanjut</a:t>
            </a:r>
            <a:endParaRPr lang="en-US" sz="2800" dirty="0"/>
          </a:p>
        </p:txBody>
      </p:sp>
      <p:sp>
        <p:nvSpPr>
          <p:cNvPr id="5" name="Shape 3"/>
          <p:cNvSpPr/>
          <p:nvPr/>
        </p:nvSpPr>
        <p:spPr>
          <a:xfrm>
            <a:off x="548640" y="1737360"/>
            <a:ext cx="411480" cy="411480"/>
          </a:xfrm>
          <a:prstGeom prst="roundRect">
            <a:avLst>
              <a:gd name="adj" fmla="val 17778"/>
            </a:avLst>
          </a:prstGeom>
          <a:solidFill>
            <a:srgbClr val="17324F"/>
          </a:solidFill>
          <a:ln w="12700">
            <a:solidFill>
              <a:srgbClr val="2EC4B6"/>
            </a:solidFill>
            <a:prstDash val="solid"/>
          </a:ln>
        </p:spPr>
      </p:sp>
      <p:sp>
        <p:nvSpPr>
          <p:cNvPr id="6" name="Text 4"/>
          <p:cNvSpPr/>
          <p:nvPr/>
        </p:nvSpPr>
        <p:spPr>
          <a:xfrm>
            <a:off x="548640" y="1737360"/>
            <a:ext cx="411480" cy="411480"/>
          </a:xfrm>
          <a:prstGeom prst="rect">
            <a:avLst/>
          </a:prstGeom>
          <a:noFill/>
          <a:ln/>
        </p:spPr>
        <p:txBody>
          <a:bodyPr wrap="square" lIns="0" tIns="0" rIns="0" bIns="0" rtlCol="0" anchor="ctr"/>
          <a:lstStyle/>
          <a:p>
            <a:pPr algn="ctr" indent="0" marL="0">
              <a:buNone/>
            </a:pPr>
            <a:r>
              <a:rPr lang="en-US" sz="1300" b="1" dirty="0">
                <a:solidFill>
                  <a:srgbClr val="2EC4B6"/>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43000" y="1709928"/>
            <a:ext cx="9372600" cy="502920"/>
          </a:xfrm>
          <a:prstGeom prst="rect">
            <a:avLst/>
          </a:prstGeom>
          <a:noFill/>
          <a:ln/>
        </p:spPr>
        <p:txBody>
          <a:bodyPr wrap="square" lIns="0" tIns="0" rIns="0" bIns="0" rtlCol="0" anchor="ctr"/>
          <a:lstStyle/>
          <a:p>
            <a:pPr indent="0" marL="0">
              <a:buNone/>
            </a:pPr>
            <a:r>
              <a:rPr lang="en-US" sz="1300" dirty="0">
                <a:solidFill>
                  <a:srgbClr val="E4EDF3"/>
                </a:solidFill>
                <a:latin typeface="Calibri" pitchFamily="34" charset="0"/>
                <a:ea typeface="Calibri" pitchFamily="34" charset="-122"/>
                <a:cs typeface="Calibri" pitchFamily="34" charset="-120"/>
              </a:rPr>
              <a:t>Kenapa pakai Pool, bukan Client satu-satu?</a:t>
            </a:r>
            <a:endParaRPr lang="en-US" sz="1300" dirty="0"/>
          </a:p>
        </p:txBody>
      </p:sp>
      <p:sp>
        <p:nvSpPr>
          <p:cNvPr id="8" name="Shape 6"/>
          <p:cNvSpPr/>
          <p:nvPr/>
        </p:nvSpPr>
        <p:spPr>
          <a:xfrm>
            <a:off x="548640" y="2359152"/>
            <a:ext cx="411480" cy="411480"/>
          </a:xfrm>
          <a:prstGeom prst="roundRect">
            <a:avLst>
              <a:gd name="adj" fmla="val 17778"/>
            </a:avLst>
          </a:prstGeom>
          <a:solidFill>
            <a:srgbClr val="17324F"/>
          </a:solidFill>
          <a:ln w="12700">
            <a:solidFill>
              <a:srgbClr val="2EC4B6"/>
            </a:solidFill>
            <a:prstDash val="solid"/>
          </a:ln>
        </p:spPr>
      </p:sp>
      <p:sp>
        <p:nvSpPr>
          <p:cNvPr id="9" name="Text 7"/>
          <p:cNvSpPr/>
          <p:nvPr/>
        </p:nvSpPr>
        <p:spPr>
          <a:xfrm>
            <a:off x="548640" y="2359152"/>
            <a:ext cx="411480" cy="411480"/>
          </a:xfrm>
          <a:prstGeom prst="rect">
            <a:avLst/>
          </a:prstGeom>
          <a:noFill/>
          <a:ln/>
        </p:spPr>
        <p:txBody>
          <a:bodyPr wrap="square" lIns="0" tIns="0" rIns="0" bIns="0" rtlCol="0" anchor="ctr"/>
          <a:lstStyle/>
          <a:p>
            <a:pPr algn="ctr" indent="0" marL="0">
              <a:buNone/>
            </a:pPr>
            <a:r>
              <a:rPr lang="en-US" sz="1300" b="1" dirty="0">
                <a:solidFill>
                  <a:srgbClr val="2EC4B6"/>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43000" y="2331720"/>
            <a:ext cx="9372600" cy="502920"/>
          </a:xfrm>
          <a:prstGeom prst="rect">
            <a:avLst/>
          </a:prstGeom>
          <a:noFill/>
          <a:ln/>
        </p:spPr>
        <p:txBody>
          <a:bodyPr wrap="square" lIns="0" tIns="0" rIns="0" bIns="0" rtlCol="0" anchor="ctr"/>
          <a:lstStyle/>
          <a:p>
            <a:pPr indent="0" marL="0">
              <a:buNone/>
            </a:pPr>
            <a:r>
              <a:rPr lang="en-US" sz="1300" dirty="0">
                <a:solidFill>
                  <a:srgbClr val="E4EDF3"/>
                </a:solidFill>
                <a:latin typeface="Calibri" pitchFamily="34" charset="0"/>
                <a:ea typeface="Calibri" pitchFamily="34" charset="-122"/>
                <a:cs typeface="Calibri" pitchFamily="34" charset="-120"/>
              </a:rPr>
              <a:t>Kenapa WHERE nama = '${namaInput}' berbahaya, dan WHERE nama = $1 aman?</a:t>
            </a:r>
            <a:endParaRPr lang="en-US" sz="1300" dirty="0"/>
          </a:p>
        </p:txBody>
      </p:sp>
      <p:sp>
        <p:nvSpPr>
          <p:cNvPr id="11" name="Shape 9"/>
          <p:cNvSpPr/>
          <p:nvPr/>
        </p:nvSpPr>
        <p:spPr>
          <a:xfrm>
            <a:off x="548640" y="2980944"/>
            <a:ext cx="411480" cy="411480"/>
          </a:xfrm>
          <a:prstGeom prst="roundRect">
            <a:avLst>
              <a:gd name="adj" fmla="val 17778"/>
            </a:avLst>
          </a:prstGeom>
          <a:solidFill>
            <a:srgbClr val="17324F"/>
          </a:solidFill>
          <a:ln w="12700">
            <a:solidFill>
              <a:srgbClr val="2EC4B6"/>
            </a:solidFill>
            <a:prstDash val="solid"/>
          </a:ln>
        </p:spPr>
      </p:sp>
      <p:sp>
        <p:nvSpPr>
          <p:cNvPr id="12" name="Text 10"/>
          <p:cNvSpPr/>
          <p:nvPr/>
        </p:nvSpPr>
        <p:spPr>
          <a:xfrm>
            <a:off x="548640" y="2980944"/>
            <a:ext cx="411480" cy="411480"/>
          </a:xfrm>
          <a:prstGeom prst="rect">
            <a:avLst/>
          </a:prstGeom>
          <a:noFill/>
          <a:ln/>
        </p:spPr>
        <p:txBody>
          <a:bodyPr wrap="square" lIns="0" tIns="0" rIns="0" bIns="0" rtlCol="0" anchor="ctr"/>
          <a:lstStyle/>
          <a:p>
            <a:pPr algn="ctr" indent="0" marL="0">
              <a:buNone/>
            </a:pPr>
            <a:r>
              <a:rPr lang="en-US" sz="1300" b="1" dirty="0">
                <a:solidFill>
                  <a:srgbClr val="2EC4B6"/>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43000" y="2953512"/>
            <a:ext cx="9372600" cy="502920"/>
          </a:xfrm>
          <a:prstGeom prst="rect">
            <a:avLst/>
          </a:prstGeom>
          <a:noFill/>
          <a:ln/>
        </p:spPr>
        <p:txBody>
          <a:bodyPr wrap="square" lIns="0" tIns="0" rIns="0" bIns="0" rtlCol="0" anchor="ctr"/>
          <a:lstStyle/>
          <a:p>
            <a:pPr indent="0" marL="0">
              <a:buNone/>
            </a:pPr>
            <a:r>
              <a:rPr lang="en-US" sz="1300" dirty="0">
                <a:solidFill>
                  <a:srgbClr val="E4EDF3"/>
                </a:solidFill>
                <a:latin typeface="Calibri" pitchFamily="34" charset="0"/>
                <a:ea typeface="Calibri" pitchFamily="34" charset="-122"/>
                <a:cs typeface="Calibri" pitchFamily="34" charset="-120"/>
              </a:rPr>
              <a:t>Ada file 002_tambah_kolom.sql dan 001_buat_tabel.sql — mana yang dijalanin duluan, dan kenapa?</a:t>
            </a:r>
            <a:endParaRPr lang="en-US" sz="1300" dirty="0"/>
          </a:p>
        </p:txBody>
      </p:sp>
      <p:sp>
        <p:nvSpPr>
          <p:cNvPr id="14" name="Shape 12"/>
          <p:cNvSpPr/>
          <p:nvPr/>
        </p:nvSpPr>
        <p:spPr>
          <a:xfrm>
            <a:off x="548640" y="3602736"/>
            <a:ext cx="411480" cy="411480"/>
          </a:xfrm>
          <a:prstGeom prst="roundRect">
            <a:avLst>
              <a:gd name="adj" fmla="val 17778"/>
            </a:avLst>
          </a:prstGeom>
          <a:solidFill>
            <a:srgbClr val="17324F"/>
          </a:solidFill>
          <a:ln w="12700">
            <a:solidFill>
              <a:srgbClr val="2EC4B6"/>
            </a:solidFill>
            <a:prstDash val="solid"/>
          </a:ln>
        </p:spPr>
      </p:sp>
      <p:sp>
        <p:nvSpPr>
          <p:cNvPr id="15" name="Text 13"/>
          <p:cNvSpPr/>
          <p:nvPr/>
        </p:nvSpPr>
        <p:spPr>
          <a:xfrm>
            <a:off x="548640" y="3602736"/>
            <a:ext cx="411480" cy="411480"/>
          </a:xfrm>
          <a:prstGeom prst="rect">
            <a:avLst/>
          </a:prstGeom>
          <a:noFill/>
          <a:ln/>
        </p:spPr>
        <p:txBody>
          <a:bodyPr wrap="square" lIns="0" tIns="0" rIns="0" bIns="0" rtlCol="0" anchor="ctr"/>
          <a:lstStyle/>
          <a:p>
            <a:pPr algn="ctr" indent="0" marL="0">
              <a:buNone/>
            </a:pPr>
            <a:r>
              <a:rPr lang="en-US" sz="1300" b="1" dirty="0">
                <a:solidFill>
                  <a:srgbClr val="2EC4B6"/>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143000" y="3575304"/>
            <a:ext cx="9372600" cy="502920"/>
          </a:xfrm>
          <a:prstGeom prst="rect">
            <a:avLst/>
          </a:prstGeom>
          <a:noFill/>
          <a:ln/>
        </p:spPr>
        <p:txBody>
          <a:bodyPr wrap="square" lIns="0" tIns="0" rIns="0" bIns="0" rtlCol="0" anchor="ctr"/>
          <a:lstStyle/>
          <a:p>
            <a:pPr indent="0" marL="0">
              <a:buNone/>
            </a:pPr>
            <a:r>
              <a:rPr lang="en-US" sz="1300" dirty="0">
                <a:solidFill>
                  <a:srgbClr val="E4EDF3"/>
                </a:solidFill>
                <a:latin typeface="Calibri" pitchFamily="34" charset="0"/>
                <a:ea typeface="Calibri" pitchFamily="34" charset="-122"/>
                <a:cs typeface="Calibri" pitchFamily="34" charset="-120"/>
              </a:rPr>
              <a:t>Kenapa script seed harus DELETE data lama dulu sebelum isi data baru?</a:t>
            </a:r>
            <a:endParaRPr lang="en-US" sz="1300" dirty="0"/>
          </a:p>
        </p:txBody>
      </p:sp>
      <p:sp>
        <p:nvSpPr>
          <p:cNvPr id="17" name="Shape 15"/>
          <p:cNvSpPr/>
          <p:nvPr/>
        </p:nvSpPr>
        <p:spPr>
          <a:xfrm>
            <a:off x="548640" y="4343400"/>
            <a:ext cx="11094415" cy="1371600"/>
          </a:xfrm>
          <a:prstGeom prst="roundRect">
            <a:avLst>
              <a:gd name="adj" fmla="val 6667"/>
            </a:avLst>
          </a:prstGeom>
          <a:solidFill>
            <a:srgbClr val="17324F"/>
          </a:solidFill>
          <a:ln/>
        </p:spPr>
      </p:sp>
      <p:sp>
        <p:nvSpPr>
          <p:cNvPr id="18" name="Shape 16"/>
          <p:cNvSpPr/>
          <p:nvPr/>
        </p:nvSpPr>
        <p:spPr>
          <a:xfrm>
            <a:off x="822960" y="4590288"/>
            <a:ext cx="640080" cy="640080"/>
          </a:xfrm>
          <a:prstGeom prst="ellipse">
            <a:avLst/>
          </a:prstGeom>
          <a:solidFill>
            <a:srgbClr val="10243E"/>
          </a:solidFill>
          <a:ln/>
        </p:spPr>
      </p:sp>
      <p:pic>
        <p:nvPicPr>
          <p:cNvPr id="19" name="Image 0" descr="preencoded.png">    </p:cNvPr>
          <p:cNvPicPr>
            <a:picLocks noChangeAspect="1"/>
          </p:cNvPicPr>
          <p:nvPr/>
        </p:nvPicPr>
        <p:blipFill>
          <a:blip r:embed="rId1"/>
          <a:stretch>
            <a:fillRect/>
          </a:stretch>
        </p:blipFill>
        <p:spPr>
          <a:xfrm>
            <a:off x="950976" y="4718304"/>
            <a:ext cx="384048" cy="384048"/>
          </a:xfrm>
          <a:prstGeom prst="rect">
            <a:avLst/>
          </a:prstGeom>
        </p:spPr>
      </p:pic>
      <p:sp>
        <p:nvSpPr>
          <p:cNvPr id="20" name="Text 17"/>
          <p:cNvSpPr/>
          <p:nvPr/>
        </p:nvSpPr>
        <p:spPr>
          <a:xfrm>
            <a:off x="1691640" y="4498848"/>
            <a:ext cx="960120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Kerjakan soal di folder soal/, lalu jalankan npm test</a:t>
            </a:r>
            <a:endParaRPr lang="en-US" sz="1600" dirty="0"/>
          </a:p>
        </p:txBody>
      </p:sp>
      <p:sp>
        <p:nvSpPr>
          <p:cNvPr id="21" name="Text 18"/>
          <p:cNvSpPr/>
          <p:nvPr/>
        </p:nvSpPr>
        <p:spPr>
          <a:xfrm>
            <a:off x="1691640" y="4956048"/>
            <a:ext cx="9601200" cy="685800"/>
          </a:xfrm>
          <a:prstGeom prst="rect">
            <a:avLst/>
          </a:prstGeom>
          <a:noFill/>
          <a:ln/>
        </p:spPr>
        <p:txBody>
          <a:bodyPr wrap="square" lIns="0" tIns="0" rIns="0" bIns="0" rtlCol="0" anchor="ctr"/>
          <a:lstStyle/>
          <a:p>
            <a:pPr indent="0" marL="0">
              <a:lnSpc>
                <a:spcPct val="125000"/>
              </a:lnSpc>
              <a:buNone/>
            </a:pPr>
            <a:r>
              <a:rPr lang="en-US" sz="1250" dirty="0">
                <a:solidFill>
                  <a:srgbClr val="B9CBD8"/>
                </a:solidFill>
                <a:latin typeface="Calibri" pitchFamily="34" charset="0"/>
                <a:ea typeface="Calibri" pitchFamily="34" charset="-122"/>
                <a:cs typeface="Calibri" pitchFamily="34" charset="-120"/>
              </a:rPr>
              <a:t>Test bakal beneran jalanin migration, query, &amp; seed kamu ke PostgreSQL asli, termasuk nyoba input yang isinya tanda kutip buat mastiin placeholder-nya beneran dipakai.</a:t>
            </a:r>
            <a:endParaRPr lang="en-US" sz="1250" dirty="0"/>
          </a:p>
        </p:txBody>
      </p:sp>
      <p:sp>
        <p:nvSpPr>
          <p:cNvPr id="22" name="Text 19"/>
          <p:cNvSpPr/>
          <p:nvPr/>
        </p:nvSpPr>
        <p:spPr>
          <a:xfrm>
            <a:off x="548640" y="5989320"/>
            <a:ext cx="11094415" cy="365760"/>
          </a:xfrm>
          <a:prstGeom prst="rect">
            <a:avLst/>
          </a:prstGeom>
          <a:noFill/>
          <a:ln/>
        </p:spPr>
        <p:txBody>
          <a:bodyPr wrap="square" lIns="0" tIns="0" rIns="0" bIns="0" rtlCol="0" anchor="ctr"/>
          <a:lstStyle/>
          <a:p>
            <a:pPr indent="0" marL="0">
              <a:buNone/>
            </a:pPr>
            <a:r>
              <a:rPr lang="en-US" sz="1150" i="1" dirty="0">
                <a:solidFill>
                  <a:srgbClr val="5C7A99"/>
                </a:solidFill>
                <a:latin typeface="Calibri" pitchFamily="34" charset="0"/>
                <a:ea typeface="Calibri" pitchFamily="34" charset="-122"/>
                <a:cs typeface="Calibri" pitchFamily="34" charset="-120"/>
              </a:rPr>
              <a:t>Modul lanjutan: Phase 4 ROADMAP — refactor CRUD API dari array-in-memory ke query PostgreSQL beneran, pakai db.js, migration, &amp; seed ini.</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2026-08-04T02:15:31Z</dcterms:created>
  <dcterms:modified xsi:type="dcterms:W3CDTF">2026-08-04T02:15:31Z</dcterms:modified>
</cp:coreProperties>
</file>